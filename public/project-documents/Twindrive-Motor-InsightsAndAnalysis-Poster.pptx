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omic Sans MS" panose="030F0702030302020204" pitchFamily="66" charset="0"/>
      <p:regular r:id="rId8"/>
      <p:bold r:id="rId9"/>
      <p:italic r:id="rId10"/>
      <p:boldItalic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Playfair Display" panose="00000500000000000000" pitchFamily="2" charset="0"/>
      <p:regular r:id="rId16"/>
      <p:bold r:id="rId17"/>
      <p:italic r:id="rId18"/>
      <p:boldItalic r:id="rId19"/>
    </p:embeddedFont>
    <p:embeddedFont>
      <p:font typeface="Tahoma" panose="020B0604030504040204" pitchFamily="34" charset="0"/>
      <p:regular r:id="rId20"/>
      <p:bold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40" d="100"/>
          <a:sy n="40" d="100"/>
        </p:scale>
        <p:origin x="759" y="-3072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738406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20867" y="1978096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1172" dirty="0">
                <a:solidFill>
                  <a:schemeClr val="dk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V</a:t>
            </a:r>
            <a:endParaRPr sz="1172" dirty="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97057" y="694056"/>
            <a:ext cx="12120998" cy="7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Title: </a:t>
            </a:r>
            <a:r>
              <a:rPr lang="en-US" sz="24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Twindrive- A Digital Replica for Motor Insights and Analytics</a:t>
            </a:r>
            <a:endParaRPr lang="en-US" sz="800" dirty="0">
              <a:solidFill>
                <a:srgbClr val="C00000"/>
              </a:solidFill>
            </a:endParaRPr>
          </a:p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  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68116" y="1114989"/>
            <a:ext cx="12077139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M. VAIBHAV | DAKSHRAJ SHETTY| MEHUL SINGHANIA | MOHAMMAD ASIF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1RV24EC108 | 1RV24EC059 | 1RV24EC120 | 1RV24EC123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68997"/>
            <a:ext cx="7519803" cy="19230333"/>
            <a:chOff x="26374694" y="8524168"/>
            <a:chExt cx="17964396" cy="28277704"/>
          </a:xfrm>
        </p:grpSpPr>
        <p:grpSp>
          <p:nvGrpSpPr>
            <p:cNvPr id="128" name="Google Shape;128;p1"/>
            <p:cNvGrpSpPr/>
            <p:nvPr/>
          </p:nvGrpSpPr>
          <p:grpSpPr>
            <a:xfrm>
              <a:off x="26374694" y="8524168"/>
              <a:ext cx="17964396" cy="28277704"/>
              <a:chOff x="26287382" y="8000294"/>
              <a:chExt cx="17964396" cy="28277704"/>
            </a:xfrm>
          </p:grpSpPr>
          <p:sp>
            <p:nvSpPr>
              <p:cNvPr id="131" name="Google Shape;131;p1"/>
              <p:cNvSpPr/>
              <p:nvPr/>
            </p:nvSpPr>
            <p:spPr>
              <a:xfrm>
                <a:off x="26287382" y="8000294"/>
                <a:ext cx="17964396" cy="28277704"/>
              </a:xfrm>
              <a:prstGeom prst="roundRect">
                <a:avLst>
                  <a:gd name="adj" fmla="val 2556"/>
                </a:avLst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spcFirstLastPara="1" wrap="square" lIns="38271" tIns="19130" rIns="38271" bIns="1913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3600"/>
                </a:pPr>
                <a:endParaRPr lang="en-IN"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>
                  <a:buClr>
                    <a:schemeClr val="dk1"/>
                  </a:buClr>
                  <a:buSzPts val="3600"/>
                </a:pPr>
                <a:r>
                  <a:rPr lang="en-IN" sz="1507"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</a:t>
                </a:r>
                <a:endParaRPr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26784567" y="18102043"/>
                <a:ext cx="16741775" cy="26591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271" tIns="19130" rIns="38271" bIns="19130" anchor="t" anchorCtr="0">
                <a:spAutoFit/>
              </a:bodyPr>
              <a:lstStyle/>
              <a:p>
                <a:pPr marL="228600" lvl="0" indent="-203200">
                  <a:spcBef>
                    <a:spcPts val="1000"/>
                  </a:spcBef>
                  <a:buSzPts val="2400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Bookman Old Style" panose="02050604050505020204" pitchFamily="18" charset="0"/>
                  </a:rPr>
                  <a:t>[</a:t>
                </a:r>
                <a:r>
                  <a:rPr lang="en-US" dirty="0"/>
                  <a:t>To collect and stream motor sensor data (speed, vibration, temperature, current) into a digital model.</a:t>
                </a:r>
              </a:p>
              <a:p>
                <a:pPr marL="228600" lvl="0" indent="-203200">
                  <a:spcBef>
                    <a:spcPts val="1000"/>
                  </a:spcBef>
                  <a:buSzPts val="2400"/>
                  <a:buChar char="•"/>
                </a:pPr>
                <a:r>
                  <a:rPr lang="en-US" dirty="0"/>
                  <a:t>To visualize live motor behavior through a clear analytics dashboards.</a:t>
                </a:r>
              </a:p>
              <a:p>
                <a:pPr marL="228600" lvl="0" indent="-203200">
                  <a:spcBef>
                    <a:spcPts val="1000"/>
                  </a:spcBef>
                  <a:buSzPts val="2400"/>
                  <a:buChar char="•"/>
                </a:pPr>
                <a:r>
                  <a:rPr lang="en-US" dirty="0"/>
                  <a:t>To detect anomalies and predict potential faults using trend analysis or basic ML logic.</a:t>
                </a: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</p:txBody>
          </p:sp>
        </p:grpSp>
        <p:sp>
          <p:nvSpPr>
            <p:cNvPr id="150" name="Google Shape;150;p1"/>
            <p:cNvSpPr txBox="1"/>
            <p:nvPr/>
          </p:nvSpPr>
          <p:spPr>
            <a:xfrm>
              <a:off x="26650065" y="8801931"/>
              <a:ext cx="17344338" cy="494637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Introduction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13909" y="10920044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783025" y="6694004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 and Discussions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809512" y="13797564"/>
            <a:ext cx="7080855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99159" y="8428447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3" name="Google Shape;149;p1">
            <a:extLst>
              <a:ext uri="{FF2B5EF4-FFF2-40B4-BE49-F238E27FC236}">
                <a16:creationId xmlns:a16="http://schemas.microsoft.com/office/drawing/2014/main" id="{D84E6594-496A-649E-D408-EC8C95C89896}"/>
              </a:ext>
            </a:extLst>
          </p:cNvPr>
          <p:cNvSpPr txBox="1"/>
          <p:nvPr/>
        </p:nvSpPr>
        <p:spPr>
          <a:xfrm>
            <a:off x="246806" y="2596470"/>
            <a:ext cx="7008020" cy="419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336550" indent="-285750">
              <a:buFont typeface="Arial" panose="020B0604020202020204" pitchFamily="34" charset="0"/>
              <a:buChar char="•"/>
            </a:pPr>
            <a:r>
              <a:rPr lang="en-US" dirty="0"/>
              <a:t>TwinDrive is a digital twin for BLDC motors that uses real-time sensors to monitor temperature and vibration, enabling performance tracking and fault detection through a simple dashboard without opening the motor.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Motor failures such as overheating cause nearly 70% of industrial breakdowns, resulting in high costs and safety risks.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TwinDrive supports Industry 4.0 by using predictive maintenance to detect issues early, improving safety, reliability, and energy efficiency.</a:t>
            </a:r>
          </a:p>
          <a:p>
            <a:pPr marL="3365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/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3629" y="5304852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Problem Definition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5" name="Google Shape;149;p1">
            <a:extLst>
              <a:ext uri="{FF2B5EF4-FFF2-40B4-BE49-F238E27FC236}">
                <a16:creationId xmlns:a16="http://schemas.microsoft.com/office/drawing/2014/main" id="{0AD56C33-8595-63E3-6908-627CBDAC131B}"/>
              </a:ext>
            </a:extLst>
          </p:cNvPr>
          <p:cNvSpPr txBox="1"/>
          <p:nvPr/>
        </p:nvSpPr>
        <p:spPr>
          <a:xfrm>
            <a:off x="408531" y="5759039"/>
            <a:ext cx="7008020" cy="272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28600" lvl="0" indent="-203200">
              <a:lnSpc>
                <a:spcPct val="90000"/>
              </a:lnSpc>
              <a:buSzPts val="2400"/>
              <a:buChar char="•"/>
            </a:pPr>
            <a:r>
              <a:rPr lang="en-US" dirty="0"/>
              <a:t>Motors face hidden issues like torque imbalance, thermal hotspots, vibration faults, and efficiency loss.</a:t>
            </a:r>
          </a:p>
          <a:p>
            <a:pPr marL="228600" lvl="0" indent="-203200">
              <a:lnSpc>
                <a:spcPct val="115000"/>
              </a:lnSpc>
              <a:buSzPts val="2400"/>
              <a:buFont typeface="Bookman Old Style"/>
              <a:buChar char="•"/>
            </a:pPr>
            <a:r>
              <a:rPr lang="en-US" dirty="0"/>
              <a:t>Existing monitoring systems provide only basic diagnostics and miss early-stage faults.</a:t>
            </a:r>
          </a:p>
          <a:p>
            <a:pPr marL="228600" lvl="0" indent="-203200">
              <a:lnSpc>
                <a:spcPct val="115000"/>
              </a:lnSpc>
              <a:buSzPts val="2400"/>
              <a:buFont typeface="Bookman Old Style"/>
              <a:buChar char="•"/>
            </a:pPr>
            <a:r>
              <a:rPr lang="en-US" dirty="0"/>
              <a:t>There is no real-time digital model that mirrors the motor’s actual behavior for deeper analysis.</a:t>
            </a:r>
          </a:p>
          <a:p>
            <a:pPr marL="228600" lvl="0" indent="-203200">
              <a:lnSpc>
                <a:spcPct val="115000"/>
              </a:lnSpc>
              <a:buSzPts val="2400"/>
              <a:buChar char="•"/>
            </a:pPr>
            <a:r>
              <a:rPr lang="en-US" dirty="0"/>
              <a:t>The core problem: absence of a high-fidelity digital twin that continuously predicts faults and provides motor performance insights</a:t>
            </a: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6" name="Google Shape;149;p1">
            <a:extLst>
              <a:ext uri="{FF2B5EF4-FFF2-40B4-BE49-F238E27FC236}">
                <a16:creationId xmlns:a16="http://schemas.microsoft.com/office/drawing/2014/main" id="{56905CA1-27BD-5110-F126-0953ACA80AB4}"/>
              </a:ext>
            </a:extLst>
          </p:cNvPr>
          <p:cNvSpPr txBox="1"/>
          <p:nvPr/>
        </p:nvSpPr>
        <p:spPr>
          <a:xfrm>
            <a:off x="335735" y="11383386"/>
            <a:ext cx="7008020" cy="917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7" name="Google Shape;149;p1">
            <a:extLst>
              <a:ext uri="{FF2B5EF4-FFF2-40B4-BE49-F238E27FC236}">
                <a16:creationId xmlns:a16="http://schemas.microsoft.com/office/drawing/2014/main" id="{ECCC3B4A-9606-90BB-BB04-2AC50E455D9E}"/>
              </a:ext>
            </a:extLst>
          </p:cNvPr>
          <p:cNvSpPr txBox="1"/>
          <p:nvPr/>
        </p:nvSpPr>
        <p:spPr>
          <a:xfrm>
            <a:off x="7854750" y="2605453"/>
            <a:ext cx="7008020" cy="1110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76200" lvl="0">
              <a:spcBef>
                <a:spcPts val="1000"/>
              </a:spcBef>
              <a:buClr>
                <a:srgbClr val="002060"/>
              </a:buClr>
              <a:buSzPts val="2400"/>
            </a:pPr>
            <a:r>
              <a:rPr lang="en-IN" b="1" dirty="0"/>
              <a:t>Hardware:</a:t>
            </a:r>
            <a:r>
              <a:rPr lang="en-IN" dirty="0"/>
              <a:t> </a:t>
            </a:r>
          </a:p>
          <a:p>
            <a:pPr marL="419100" indent="-342900">
              <a:buSzPts val="2400"/>
              <a:buFont typeface="Arial" panose="020B0604020202020204" pitchFamily="34" charset="0"/>
              <a:buChar char="•"/>
            </a:pPr>
            <a:r>
              <a:rPr lang="en-IN" dirty="0"/>
              <a:t>ESP32</a:t>
            </a:r>
          </a:p>
          <a:p>
            <a:pPr marL="419100" indent="-342900">
              <a:buSzPts val="2400"/>
              <a:buFont typeface="Arial" panose="020B0604020202020204" pitchFamily="34" charset="0"/>
              <a:buChar char="•"/>
            </a:pPr>
            <a:r>
              <a:rPr lang="en-IN" dirty="0"/>
              <a:t>BLDC Motor</a:t>
            </a:r>
          </a:p>
          <a:p>
            <a:pPr marL="419100" indent="-342900">
              <a:buSzPts val="2400"/>
              <a:buFont typeface="Arial" panose="020B0604020202020204" pitchFamily="34" charset="0"/>
              <a:buChar char="•"/>
            </a:pPr>
            <a:r>
              <a:rPr lang="en-IN" dirty="0"/>
              <a:t>Temperature sensor</a:t>
            </a:r>
          </a:p>
          <a:p>
            <a:pPr marL="419100" indent="-342900">
              <a:lnSpc>
                <a:spcPct val="115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en-IN" dirty="0"/>
              <a:t>Vibration sensor</a:t>
            </a:r>
          </a:p>
          <a:p>
            <a:pPr marL="419100" indent="-3429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dirty="0"/>
              <a:t>Current and voltage sensors</a:t>
            </a:r>
          </a:p>
          <a:p>
            <a:pPr marL="419100" indent="-342900">
              <a:buSzPts val="2400"/>
              <a:buFont typeface="Arial" panose="020B0604020202020204" pitchFamily="34" charset="0"/>
              <a:buChar char="•"/>
            </a:pPr>
            <a:r>
              <a:rPr lang="en-IN" dirty="0"/>
              <a:t>OLed Display</a:t>
            </a:r>
          </a:p>
          <a:p>
            <a:pPr marL="419100" indent="-342900">
              <a:buSzPts val="2400"/>
              <a:buFont typeface="Arial" panose="020B0604020202020204" pitchFamily="34" charset="0"/>
              <a:buChar char="•"/>
            </a:pPr>
            <a:r>
              <a:rPr lang="en-IN" dirty="0"/>
              <a:t>Servo Master</a:t>
            </a:r>
            <a:endParaRPr lang="en-US" b="1" dirty="0"/>
          </a:p>
          <a:p>
            <a:pPr marL="76200" indent="0">
              <a:buSzPts val="2400"/>
              <a:buNone/>
            </a:pPr>
            <a:endParaRPr lang="en-IN" b="1" dirty="0"/>
          </a:p>
          <a:p>
            <a:pPr marL="76200" indent="0">
              <a:buSzPts val="2400"/>
              <a:buNone/>
            </a:pPr>
            <a:r>
              <a:rPr lang="en-IN" b="1" dirty="0"/>
              <a:t>Software </a:t>
            </a:r>
            <a:endParaRPr lang="en-IN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dirty="0"/>
              <a:t>Firebase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dirty="0"/>
              <a:t>Arduino IDE</a:t>
            </a: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marL="228600" lvl="0" indent="-203200">
              <a:lnSpc>
                <a:spcPct val="115000"/>
              </a:lnSpc>
              <a:spcBef>
                <a:spcPts val="1200"/>
              </a:spcBef>
              <a:buSzPts val="2400"/>
              <a:buFont typeface="Bookman Old Style"/>
              <a:buChar char="•"/>
            </a:pPr>
            <a:r>
              <a:rPr lang="en-US" dirty="0"/>
              <a:t>We built a working digital dashboard of the motor that can show live parameters like speed, vibration, and temperature in a clear, understandable way.</a:t>
            </a:r>
            <a:br>
              <a:rPr lang="en-US" dirty="0"/>
            </a:br>
            <a:endParaRPr lang="en-US" dirty="0"/>
          </a:p>
          <a:p>
            <a:pPr marL="228600" lvl="0" indent="-203200">
              <a:lnSpc>
                <a:spcPct val="115000"/>
              </a:lnSpc>
              <a:buSzPts val="2400"/>
              <a:buFont typeface="Bookman Old Style"/>
              <a:buChar char="•"/>
            </a:pPr>
            <a:r>
              <a:rPr lang="en-US" dirty="0"/>
              <a:t>The system is able to spot unusual patterns early (for example, rising vibration or sudden load changes) and highlight them before they become faults.</a:t>
            </a:r>
            <a:br>
              <a:rPr lang="en-US" dirty="0"/>
            </a:br>
            <a:endParaRPr lang="en-US" dirty="0"/>
          </a:p>
          <a:p>
            <a:pPr marL="228600" lvl="0" indent="-203200">
              <a:lnSpc>
                <a:spcPct val="115000"/>
              </a:lnSpc>
              <a:buClr>
                <a:schemeClr val="dk1"/>
              </a:buClr>
              <a:buSzPts val="2400"/>
              <a:buFont typeface="Bookman Old Style"/>
              <a:buChar char="•"/>
            </a:pPr>
            <a:r>
              <a:rPr lang="en-US" dirty="0"/>
              <a:t>Overall, the project gives a dependable visualization and analytics layer that makes the motor’s behavior easy to interpret in real time.</a:t>
            </a:r>
            <a:br>
              <a:rPr lang="en-US" dirty="0"/>
            </a:br>
            <a:endParaRPr lang="en-US" dirty="0"/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marL="361950" lvl="0" indent="-285750">
              <a:lnSpc>
                <a:spcPct val="90000"/>
              </a:lnSpc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The project showed that a Digital Twin can effectively monitor an electric motor using real-time sensor data, enabling accurate comparison with virtual simulations. </a:t>
            </a:r>
          </a:p>
          <a:p>
            <a:pPr marL="76200" lvl="0">
              <a:lnSpc>
                <a:spcPct val="90000"/>
              </a:lnSpc>
              <a:buSzPts val="2400"/>
            </a:pPr>
            <a:endParaRPr lang="en-US" dirty="0"/>
          </a:p>
          <a:p>
            <a:pPr marL="361950" lvl="0" indent="-285750">
              <a:lnSpc>
                <a:spcPct val="90000"/>
              </a:lnSpc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This improves fault detection and predictive maintenance.</a:t>
            </a:r>
          </a:p>
          <a:p>
            <a:pPr marL="361950" lvl="0" indent="-285750">
              <a:lnSpc>
                <a:spcPct val="90000"/>
              </a:lnSpc>
              <a:buSzPts val="2400"/>
              <a:buFont typeface="Arial" panose="020B0604020202020204" pitchFamily="34" charset="0"/>
              <a:buChar char="•"/>
            </a:pPr>
            <a:endParaRPr lang="en-US" dirty="0"/>
          </a:p>
          <a:p>
            <a:pPr marL="361950" lvl="0" indent="-285750">
              <a:lnSpc>
                <a:spcPct val="90000"/>
              </a:lnSpc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Improved accuracy and speed of fault detection using live sensor data</a:t>
            </a:r>
          </a:p>
          <a:p>
            <a:pPr marL="361950" lvl="0" indent="-285750">
              <a:lnSpc>
                <a:spcPct val="90000"/>
              </a:lnSpc>
              <a:buSzPts val="2400"/>
              <a:buFont typeface="Arial" panose="020B0604020202020204" pitchFamily="34" charset="0"/>
              <a:buChar char="•"/>
            </a:pPr>
            <a:endParaRPr lang="en-US" dirty="0"/>
          </a:p>
          <a:p>
            <a:pPr marL="361950" lvl="0" indent="-285750">
              <a:lnSpc>
                <a:spcPct val="90000"/>
              </a:lnSpc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Reduced dependency on manual inspection and reactive troubleshooting.</a:t>
            </a: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C3C138E0-EC15-F332-8FAA-6F2D3C197756}"/>
              </a:ext>
            </a:extLst>
          </p:cNvPr>
          <p:cNvSpPr txBox="1"/>
          <p:nvPr/>
        </p:nvSpPr>
        <p:spPr>
          <a:xfrm>
            <a:off x="10659905" y="1375398"/>
            <a:ext cx="5143500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990000"/>
              </a:buClr>
              <a:buSzPts val="6000"/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Theme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: </a:t>
            </a:r>
            <a:r>
              <a:rPr lang="en-IN" sz="16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ELECTRIC VEHICLE TECHNOLOGY</a:t>
            </a:r>
            <a:endParaRPr sz="1600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854750" y="10651875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pic>
        <p:nvPicPr>
          <p:cNvPr id="9" name="Picture 8" descr="NTC Thermistor Temperature Sensor Module">
            <a:extLst>
              <a:ext uri="{FF2B5EF4-FFF2-40B4-BE49-F238E27FC236}">
                <a16:creationId xmlns:a16="http://schemas.microsoft.com/office/drawing/2014/main" id="{9304AA23-F63C-C366-4D20-94FEDF78A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8" t="18053" r="10724" b="13704"/>
          <a:stretch>
            <a:fillRect/>
          </a:stretch>
        </p:blipFill>
        <p:spPr bwMode="auto">
          <a:xfrm>
            <a:off x="11242450" y="2952215"/>
            <a:ext cx="1629505" cy="145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Model Name/Number: SSD1306 0.96 Cm OLED Display Module at ₹ 175/piece in  Mumbai">
            <a:extLst>
              <a:ext uri="{FF2B5EF4-FFF2-40B4-BE49-F238E27FC236}">
                <a16:creationId xmlns:a16="http://schemas.microsoft.com/office/drawing/2014/main" id="{B1C76BC4-2BC8-62E8-12A9-A0DDA108C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0690" y="4375438"/>
            <a:ext cx="2006555" cy="200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Google Shape;149;p1">
            <a:extLst>
              <a:ext uri="{FF2B5EF4-FFF2-40B4-BE49-F238E27FC236}">
                <a16:creationId xmlns:a16="http://schemas.microsoft.com/office/drawing/2014/main" id="{EBC90A91-99DD-291F-3274-84F42F297A7D}"/>
              </a:ext>
            </a:extLst>
          </p:cNvPr>
          <p:cNvSpPr txBox="1"/>
          <p:nvPr/>
        </p:nvSpPr>
        <p:spPr>
          <a:xfrm>
            <a:off x="7983862" y="13335732"/>
            <a:ext cx="7008020" cy="370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457200" lvl="0" indent="-381000">
              <a:lnSpc>
                <a:spcPct val="90000"/>
              </a:lnSpc>
              <a:buSzPts val="2400"/>
              <a:buChar char="•"/>
            </a:pPr>
            <a:r>
              <a:rPr lang="en-IN" sz="1600" b="1" dirty="0"/>
              <a:t>Xiaohui Gu, Wei Duan, Guoan Zhang</a:t>
            </a:r>
            <a:r>
              <a:rPr lang="en-IN" sz="1600" dirty="0"/>
              <a:t> – </a:t>
            </a:r>
            <a:r>
              <a:rPr lang="en-IN" sz="1600" b="1" dirty="0"/>
              <a:t>“Digital Twin Technology for Intelligent Vehicles and Transportation Systems”</a:t>
            </a:r>
            <a:r>
              <a:rPr lang="en-IN" sz="1600" dirty="0"/>
              <a:t> IEEE Transactions on Intelligent Transportation Systems Volume 26, Issue 4, April 2025, Pages 4240–4259.</a:t>
            </a:r>
          </a:p>
          <a:p>
            <a:pPr marL="457200" lvl="0" indent="-381000">
              <a:lnSpc>
                <a:spcPct val="90000"/>
              </a:lnSpc>
              <a:buSzPts val="2400"/>
              <a:buChar char="•"/>
            </a:pPr>
            <a:r>
              <a:rPr lang="en-IN" sz="1600" b="1" dirty="0"/>
              <a:t>Farzaneh Naseri, Amir Yadollahi Goharrizi, Mohammad Shirazi – “Digital twin of electric vehicle battery systems: Comprehensive review of the use cases, requirements, and platforms”</a:t>
            </a:r>
            <a:r>
              <a:rPr lang="en-IN" sz="1600" dirty="0"/>
              <a:t> Renewable and Sustainable Energy Reviews Volume 179, February 2023, Article 132801.</a:t>
            </a:r>
          </a:p>
          <a:p>
            <a:pPr marL="457200" lvl="0" indent="-381000">
              <a:lnSpc>
                <a:spcPct val="90000"/>
              </a:lnSpc>
              <a:buSzPts val="2400"/>
              <a:buChar char="•"/>
            </a:pPr>
            <a:r>
              <a:rPr lang="en-IN" sz="1600" b="1" dirty="0"/>
              <a:t>Sunil Sharma Verma – “A systematic review of digital twins for electric vehicles”</a:t>
            </a:r>
            <a:r>
              <a:rPr lang="en-IN" sz="1600" dirty="0"/>
              <a:t> Journal of Traffic and Transportation Engineering (English Edition) Volume 11, Issue 5, October 2024, Pages 815–834.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sz="1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76E17F29-8011-5A11-01A8-2286CA5B6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A63E4F0-BE52-AEBB-DBD1-A9FD5E157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76" y="11473044"/>
            <a:ext cx="6618750" cy="94725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CA3743-4EF9-E30F-9C08-666349365E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5257" y="17554853"/>
            <a:ext cx="2895433" cy="2895433"/>
          </a:xfrm>
          <a:prstGeom prst="rect">
            <a:avLst/>
          </a:prstGeom>
        </p:spPr>
      </p:pic>
      <p:sp>
        <p:nvSpPr>
          <p:cNvPr id="15" name="Google Shape;174;p1">
            <a:extLst>
              <a:ext uri="{FF2B5EF4-FFF2-40B4-BE49-F238E27FC236}">
                <a16:creationId xmlns:a16="http://schemas.microsoft.com/office/drawing/2014/main" id="{FA5059B3-5992-0F89-170B-18D733978D30}"/>
              </a:ext>
            </a:extLst>
          </p:cNvPr>
          <p:cNvSpPr txBox="1"/>
          <p:nvPr/>
        </p:nvSpPr>
        <p:spPr>
          <a:xfrm>
            <a:off x="7817833" y="17061949"/>
            <a:ext cx="7080855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US" sz="2000" b="1" dirty="0">
                <a:latin typeface="Söhne"/>
              </a:rPr>
              <a:t>W</a:t>
            </a:r>
            <a:r>
              <a:rPr lang="en-IN" sz="2000" b="1" dirty="0" err="1">
                <a:latin typeface="Söhne"/>
              </a:rPr>
              <a:t>orking</a:t>
            </a:r>
            <a:r>
              <a:rPr lang="en-IN" sz="2000" b="1" dirty="0">
                <a:latin typeface="Söhne"/>
              </a:rPr>
              <a:t> Demonstration</a:t>
            </a:r>
            <a:endParaRPr lang="en-IN" sz="2000" b="1" i="0" dirty="0">
              <a:effectLst/>
              <a:latin typeface="Söh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403</TotalTime>
  <Words>539</Words>
  <Application>Microsoft Office PowerPoint</Application>
  <PresentationFormat>Custom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Arial</vt:lpstr>
      <vt:lpstr>Playfair Display</vt:lpstr>
      <vt:lpstr>Georgia</vt:lpstr>
      <vt:lpstr>Comic Sans MS</vt:lpstr>
      <vt:lpstr>Bookman Old Style</vt:lpstr>
      <vt:lpstr>Calibri Light</vt:lpstr>
      <vt:lpstr>Times New Roman</vt:lpstr>
      <vt:lpstr>Söhne</vt:lpstr>
      <vt:lpstr>Trebuchet MS</vt:lpstr>
      <vt:lpstr>Tahoma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Mehul Singhania</cp:lastModifiedBy>
  <cp:revision>30</cp:revision>
  <cp:lastPrinted>2024-01-29T05:31:42Z</cp:lastPrinted>
  <dcterms:created xsi:type="dcterms:W3CDTF">2020-07-26T16:54:19Z</dcterms:created>
  <dcterms:modified xsi:type="dcterms:W3CDTF">2026-01-22T04:23:07Z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