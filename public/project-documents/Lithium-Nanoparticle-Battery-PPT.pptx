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445" r:id="rId2"/>
    <p:sldId id="446" r:id="rId3"/>
    <p:sldId id="394" r:id="rId4"/>
    <p:sldId id="447" r:id="rId5"/>
    <p:sldId id="438" r:id="rId6"/>
    <p:sldId id="423" r:id="rId7"/>
    <p:sldId id="448" r:id="rId8"/>
    <p:sldId id="439" r:id="rId9"/>
    <p:sldId id="440" r:id="rId10"/>
    <p:sldId id="449" r:id="rId11"/>
    <p:sldId id="441" r:id="rId12"/>
    <p:sldId id="450" r:id="rId13"/>
    <p:sldId id="451" r:id="rId14"/>
    <p:sldId id="453" r:id="rId15"/>
    <p:sldId id="454" r:id="rId16"/>
    <p:sldId id="442" r:id="rId17"/>
    <p:sldId id="452" r:id="rId18"/>
    <p:sldId id="443" r:id="rId19"/>
    <p:sldId id="444" r:id="rId20"/>
    <p:sldId id="432" r:id="rId21"/>
    <p:sldId id="400" r:id="rId22"/>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03" autoAdjust="0"/>
    <p:restoredTop sz="91972" autoAdjust="0"/>
  </p:normalViewPr>
  <p:slideViewPr>
    <p:cSldViewPr snapToGrid="0">
      <p:cViewPr varScale="1">
        <p:scale>
          <a:sx n="60" d="100"/>
          <a:sy n="60" d="100"/>
        </p:scale>
        <p:origin x="86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6A973A30-4E8D-4F5A-A660-0CF9FA0EA0CF}" type="datetimeFigureOut">
              <a:rPr lang="en-IN" smtClean="0"/>
              <a:t>23-06-2025</a:t>
            </a:fld>
            <a:endParaRPr lang="en-IN"/>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77223E4C-C78F-4806-9F29-9550DE44BB40}" type="slidenum">
              <a:rPr lang="en-IN" smtClean="0"/>
              <a:t>‹#›</a:t>
            </a:fld>
            <a:endParaRPr lang="en-IN"/>
          </a:p>
        </p:txBody>
      </p:sp>
    </p:spTree>
    <p:extLst>
      <p:ext uri="{BB962C8B-B14F-4D97-AF65-F5344CB8AC3E}">
        <p14:creationId xmlns:p14="http://schemas.microsoft.com/office/powerpoint/2010/main" val="113801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223E4C-C78F-4806-9F29-9550DE44BB40}" type="slidenum">
              <a:rPr lang="en-IN" smtClean="0"/>
              <a:t>2</a:t>
            </a:fld>
            <a:endParaRPr lang="en-IN"/>
          </a:p>
        </p:txBody>
      </p:sp>
    </p:spTree>
    <p:extLst>
      <p:ext uri="{BB962C8B-B14F-4D97-AF65-F5344CB8AC3E}">
        <p14:creationId xmlns:p14="http://schemas.microsoft.com/office/powerpoint/2010/main" val="675541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7223E4C-C78F-4806-9F29-9550DE44BB40}" type="slidenum">
              <a:rPr lang="en-IN" smtClean="0"/>
              <a:t>20</a:t>
            </a:fld>
            <a:endParaRPr lang="en-IN"/>
          </a:p>
        </p:txBody>
      </p:sp>
    </p:spTree>
    <p:extLst>
      <p:ext uri="{BB962C8B-B14F-4D97-AF65-F5344CB8AC3E}">
        <p14:creationId xmlns:p14="http://schemas.microsoft.com/office/powerpoint/2010/main" val="38575909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95310"/>
            <a:ext cx="9144000" cy="2387600"/>
          </a:xfrm>
        </p:spPr>
        <p:txBody>
          <a:bodyPr anchor="b"/>
          <a:lstStyle>
            <a:lvl1pPr algn="ctr">
              <a:defRPr sz="6000">
                <a:solidFill>
                  <a:srgbClr val="002060"/>
                </a:solidFill>
                <a:latin typeface="Bookman Old Style" panose="02050604050505020204" pitchFamily="18" charset="0"/>
              </a:defRPr>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C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p:txBody>
          <a:bodyPr/>
          <a:lstStyle/>
          <a:p>
            <a:fld id="{D3F99E61-0CE5-49A0-ADAE-575C3A21A57B}" type="datetime2">
              <a:rPr lang="en-IN" smtClean="0"/>
              <a:t>Monday, 23 June 2025</a:t>
            </a:fld>
            <a:endParaRPr lang="en-IN"/>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
        <p:nvSpPr>
          <p:cNvPr id="10" name="object 7"/>
          <p:cNvSpPr txBox="1"/>
          <p:nvPr userDrawn="1"/>
        </p:nvSpPr>
        <p:spPr>
          <a:xfrm>
            <a:off x="4541263" y="6344368"/>
            <a:ext cx="3498933" cy="377108"/>
          </a:xfrm>
          <a:prstGeom prst="rect">
            <a:avLst/>
          </a:prstGeom>
        </p:spPr>
        <p:txBody>
          <a:bodyPr wrap="square" lIns="0" tIns="7701" rIns="0" bIns="0">
            <a:spAutoFit/>
          </a:bodyPr>
          <a:lstStyle/>
          <a:p>
            <a:pPr marL="7701" algn="ctr">
              <a:spcBef>
                <a:spcPts val="61"/>
              </a:spcBef>
              <a:defRPr/>
            </a:pPr>
            <a:r>
              <a:rPr sz="2400" b="1" i="1" spc="-3" dirty="0">
                <a:solidFill>
                  <a:srgbClr val="422C75"/>
                </a:solidFill>
                <a:latin typeface="Bookman Old Style" panose="02050604050505020204" pitchFamily="18" charset="0"/>
                <a:ea typeface="ＭＳ Ｐゴシック" charset="0"/>
                <a:cs typeface="Playfair Display"/>
              </a:rPr>
              <a:t>Go, change </a:t>
            </a:r>
            <a:r>
              <a:rPr sz="2400" b="1" i="1" dirty="0">
                <a:solidFill>
                  <a:srgbClr val="422C75"/>
                </a:solidFill>
                <a:latin typeface="Bookman Old Style" panose="02050604050505020204" pitchFamily="18" charset="0"/>
                <a:ea typeface="ＭＳ Ｐゴシック" charset="0"/>
                <a:cs typeface="Playfair Display"/>
              </a:rPr>
              <a:t>the</a:t>
            </a:r>
            <a:r>
              <a:rPr sz="2400" b="1" i="1" spc="-49" dirty="0">
                <a:solidFill>
                  <a:srgbClr val="422C75"/>
                </a:solidFill>
                <a:latin typeface="Bookman Old Style" panose="02050604050505020204" pitchFamily="18" charset="0"/>
                <a:ea typeface="ＭＳ Ｐゴシック" charset="0"/>
                <a:cs typeface="Playfair Display"/>
              </a:rPr>
              <a:t> </a:t>
            </a:r>
            <a:r>
              <a:rPr sz="2400" b="1" i="1" spc="-3" dirty="0">
                <a:solidFill>
                  <a:srgbClr val="422C75"/>
                </a:solidFill>
                <a:latin typeface="Bookman Old Style" panose="02050604050505020204" pitchFamily="18" charset="0"/>
                <a:ea typeface="ＭＳ Ｐゴシック" charset="0"/>
                <a:cs typeface="Playfair Display"/>
              </a:rPr>
              <a:t>world</a:t>
            </a:r>
            <a:endParaRPr sz="2400" b="1" dirty="0">
              <a:latin typeface="Bookman Old Style" panose="02050604050505020204" pitchFamily="18" charset="0"/>
              <a:ea typeface="ＭＳ Ｐゴシック" charset="0"/>
              <a:cs typeface="Playfair Display"/>
            </a:endParaRPr>
          </a:p>
        </p:txBody>
      </p:sp>
      <p:pic>
        <p:nvPicPr>
          <p:cNvPr id="13" name="Picture 12">
            <a:extLst>
              <a:ext uri="{FF2B5EF4-FFF2-40B4-BE49-F238E27FC236}">
                <a16:creationId xmlns:a16="http://schemas.microsoft.com/office/drawing/2014/main" id="{432A6D4B-382C-5C68-3C64-26E14200A155}"/>
              </a:ext>
            </a:extLst>
          </p:cNvPr>
          <p:cNvPicPr>
            <a:picLocks noChangeAspect="1"/>
          </p:cNvPicPr>
          <p:nvPr userDrawn="1"/>
        </p:nvPicPr>
        <p:blipFill rotWithShape="1">
          <a:blip r:embed="rId2"/>
          <a:srcRect t="13833"/>
          <a:stretch/>
        </p:blipFill>
        <p:spPr>
          <a:xfrm>
            <a:off x="0" y="0"/>
            <a:ext cx="2207505" cy="997630"/>
          </a:xfrm>
          <a:prstGeom prst="rect">
            <a:avLst/>
          </a:prstGeom>
        </p:spPr>
      </p:pic>
    </p:spTree>
    <p:extLst>
      <p:ext uri="{BB962C8B-B14F-4D97-AF65-F5344CB8AC3E}">
        <p14:creationId xmlns:p14="http://schemas.microsoft.com/office/powerpoint/2010/main" val="4159531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813" y="1258282"/>
            <a:ext cx="11842377" cy="4918680"/>
          </a:xfrm>
          <a:ln>
            <a:noFill/>
          </a:ln>
        </p:spPr>
        <p:txBody>
          <a:bodyPr/>
          <a:lstStyle>
            <a:lvl1pPr>
              <a:defRPr>
                <a:solidFill>
                  <a:srgbClr val="002060"/>
                </a:solidFill>
                <a:latin typeface="Bookman Old Style" panose="02050604050505020204" pitchFamily="18" charset="0"/>
              </a:defRPr>
            </a:lvl1pPr>
            <a:lvl2pPr>
              <a:defRPr>
                <a:latin typeface="Bookman Old Style" panose="02050604050505020204" pitchFamily="18" charset="0"/>
              </a:defRPr>
            </a:lvl2pPr>
            <a:lvl3pPr>
              <a:defRPr>
                <a:solidFill>
                  <a:srgbClr val="002060"/>
                </a:solidFill>
                <a:latin typeface="Bookman Old Style" panose="02050604050505020204" pitchFamily="18" charset="0"/>
              </a:defRPr>
            </a:lvl3pPr>
            <a:lvl4pPr>
              <a:defRPr>
                <a:solidFill>
                  <a:srgbClr val="002060"/>
                </a:solidFill>
                <a:latin typeface="Bookman Old Style" panose="02050604050505020204" pitchFamily="18" charset="0"/>
              </a:defRPr>
            </a:lvl4pPr>
            <a:lvl5pPr>
              <a:defRPr>
                <a:solidFill>
                  <a:srgbClr val="002060"/>
                </a:solidFill>
                <a:latin typeface="Bookman Old Style" panose="020506040505050202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object 7"/>
          <p:cNvSpPr txBox="1"/>
          <p:nvPr userDrawn="1"/>
        </p:nvSpPr>
        <p:spPr>
          <a:xfrm>
            <a:off x="5055596" y="6405140"/>
            <a:ext cx="2080806"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sp>
        <p:nvSpPr>
          <p:cNvPr id="9" name="Date Placeholder 8"/>
          <p:cNvSpPr>
            <a:spLocks noGrp="1"/>
          </p:cNvSpPr>
          <p:nvPr>
            <p:ph type="dt" sz="half" idx="10"/>
          </p:nvPr>
        </p:nvSpPr>
        <p:spPr>
          <a:xfrm>
            <a:off x="174812" y="6347205"/>
            <a:ext cx="2743200" cy="365125"/>
          </a:xfrm>
        </p:spPr>
        <p:txBody>
          <a:bodyPr/>
          <a:lstStyle>
            <a:lvl1pPr>
              <a:defRPr b="1">
                <a:solidFill>
                  <a:srgbClr val="002060"/>
                </a:solidFill>
                <a:latin typeface="Bookman Old Style" panose="02050604050505020204" pitchFamily="18" charset="0"/>
              </a:defRPr>
            </a:lvl1pPr>
          </a:lstStyle>
          <a:p>
            <a:pPr algn="ctr"/>
            <a:fld id="{6BA3F8B8-C75C-44FF-9C37-B9B69285372F}" type="datetime2">
              <a:rPr lang="en-IN" smtClean="0"/>
              <a:t>Monday, 23 June 2025</a:t>
            </a:fld>
            <a:endParaRPr lang="en-IN" dirty="0"/>
          </a:p>
        </p:txBody>
      </p:sp>
      <p:sp>
        <p:nvSpPr>
          <p:cNvPr id="16" name="Slide Number Placeholder 15"/>
          <p:cNvSpPr>
            <a:spLocks noGrp="1"/>
          </p:cNvSpPr>
          <p:nvPr>
            <p:ph type="sldNum" sz="quarter" idx="12"/>
          </p:nvPr>
        </p:nvSpPr>
        <p:spPr>
          <a:xfrm>
            <a:off x="9273988" y="6347205"/>
            <a:ext cx="2743200" cy="365125"/>
          </a:xfrm>
        </p:spPr>
        <p:txBody>
          <a:bodyPr/>
          <a:lstStyle>
            <a:lvl1pPr>
              <a:defRPr b="1">
                <a:solidFill>
                  <a:srgbClr val="002060"/>
                </a:solidFill>
                <a:latin typeface="Bookman Old Style" panose="02050604050505020204" pitchFamily="18" charset="0"/>
              </a:defRPr>
            </a:lvl1pPr>
          </a:lstStyle>
          <a:p>
            <a:fld id="{9BA15CD2-76D6-4EFE-91D9-7087332E3318}" type="slidenum">
              <a:rPr lang="en-IN" smtClean="0"/>
              <a:pPr/>
              <a:t>‹#›</a:t>
            </a:fld>
            <a:endParaRPr lang="en-IN" dirty="0"/>
          </a:p>
        </p:txBody>
      </p:sp>
      <p:pic>
        <p:nvPicPr>
          <p:cNvPr id="5" name="Picture 4">
            <a:extLst>
              <a:ext uri="{FF2B5EF4-FFF2-40B4-BE49-F238E27FC236}">
                <a16:creationId xmlns:a16="http://schemas.microsoft.com/office/drawing/2014/main" id="{F054BB44-0752-FBF4-85E9-6BB716BF441F}"/>
              </a:ext>
            </a:extLst>
          </p:cNvPr>
          <p:cNvPicPr>
            <a:picLocks noChangeAspect="1"/>
          </p:cNvPicPr>
          <p:nvPr userDrawn="1"/>
        </p:nvPicPr>
        <p:blipFill rotWithShape="1">
          <a:blip r:embed="rId2"/>
          <a:srcRect t="13833"/>
          <a:stretch/>
        </p:blipFill>
        <p:spPr>
          <a:xfrm>
            <a:off x="-1" y="76427"/>
            <a:ext cx="2207505" cy="997630"/>
          </a:xfrm>
          <a:prstGeom prst="rect">
            <a:avLst/>
          </a:prstGeom>
        </p:spPr>
      </p:pic>
    </p:spTree>
    <p:extLst>
      <p:ext uri="{BB962C8B-B14F-4D97-AF65-F5344CB8AC3E}">
        <p14:creationId xmlns:p14="http://schemas.microsoft.com/office/powerpoint/2010/main" val="1273647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8942" y="1258282"/>
            <a:ext cx="5750859" cy="4918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2" y="1258280"/>
            <a:ext cx="5795682" cy="4918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a:xfrm>
            <a:off x="268940" y="6356350"/>
            <a:ext cx="2743200" cy="365125"/>
          </a:xfrm>
        </p:spPr>
        <p:txBody>
          <a:bodyPr/>
          <a:lstStyle/>
          <a:p>
            <a:fld id="{1B8ABF7C-0B56-4C7F-B575-109DA1438369}" type="datetime2">
              <a:rPr lang="en-IN" smtClean="0"/>
              <a:t>Monday, 23 June 2025</a:t>
            </a:fld>
            <a:endParaRPr lang="en-IN"/>
          </a:p>
        </p:txBody>
      </p:sp>
      <p:sp>
        <p:nvSpPr>
          <p:cNvPr id="7" name="Slide Number Placeholder 6"/>
          <p:cNvSpPr>
            <a:spLocks noGrp="1"/>
          </p:cNvSpPr>
          <p:nvPr>
            <p:ph type="sldNum" sz="quarter" idx="12"/>
          </p:nvPr>
        </p:nvSpPr>
        <p:spPr>
          <a:xfrm>
            <a:off x="9224683" y="6356350"/>
            <a:ext cx="2743200" cy="365125"/>
          </a:xfrm>
        </p:spPr>
        <p:txBody>
          <a:bodyPr/>
          <a:lstStyle/>
          <a:p>
            <a:fld id="{9BA15CD2-76D6-4EFE-91D9-7087332E3318}" type="slidenum">
              <a:rPr lang="en-IN" smtClean="0"/>
              <a:t>‹#›</a:t>
            </a:fld>
            <a:endParaRPr lang="en-IN"/>
          </a:p>
        </p:txBody>
      </p:sp>
      <p:grpSp>
        <p:nvGrpSpPr>
          <p:cNvPr id="12" name="Group 11"/>
          <p:cNvGrpSpPr/>
          <p:nvPr userDrawn="1"/>
        </p:nvGrpSpPr>
        <p:grpSpPr>
          <a:xfrm>
            <a:off x="4862837" y="6212514"/>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pic>
        <p:nvPicPr>
          <p:cNvPr id="2" name="Picture 1">
            <a:extLst>
              <a:ext uri="{FF2B5EF4-FFF2-40B4-BE49-F238E27FC236}">
                <a16:creationId xmlns:a16="http://schemas.microsoft.com/office/drawing/2014/main" id="{D279472C-35DE-C259-8137-352893A9BE1E}"/>
              </a:ext>
            </a:extLst>
          </p:cNvPr>
          <p:cNvPicPr>
            <a:picLocks noChangeAspect="1"/>
          </p:cNvPicPr>
          <p:nvPr userDrawn="1"/>
        </p:nvPicPr>
        <p:blipFill rotWithShape="1">
          <a:blip r:embed="rId2"/>
          <a:srcRect t="13833"/>
          <a:stretch/>
        </p:blipFill>
        <p:spPr>
          <a:xfrm>
            <a:off x="224117" y="81266"/>
            <a:ext cx="2207505" cy="997630"/>
          </a:xfrm>
          <a:prstGeom prst="rect">
            <a:avLst/>
          </a:prstGeom>
        </p:spPr>
      </p:pic>
    </p:spTree>
    <p:extLst>
      <p:ext uri="{BB962C8B-B14F-4D97-AF65-F5344CB8AC3E}">
        <p14:creationId xmlns:p14="http://schemas.microsoft.com/office/powerpoint/2010/main" val="115310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normAutofit/>
          </a:bodyPr>
          <a:lstStyle>
            <a:lvl1pPr>
              <a:defRPr sz="5400">
                <a:solidFill>
                  <a:srgbClr val="C00000"/>
                </a:solidFill>
                <a:latin typeface="Bookman Old Style" panose="02050604050505020204" pitchFamily="18" charset="0"/>
              </a:defRPr>
            </a:lvl1pPr>
          </a:lstStyle>
          <a:p>
            <a:r>
              <a:rPr lang="en-US" dirty="0"/>
              <a:t>Click to edit Master title style</a:t>
            </a:r>
            <a:endParaRPr lang="en-IN"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rgbClr val="002060"/>
                </a:solidFill>
                <a:latin typeface="Bookman Old Style" panose="020506040505050202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3E121CB2-2EF3-47E5-83C4-07D8FF657D5A}" type="datetime2">
              <a:rPr lang="en-IN" smtClean="0"/>
              <a:t>Monday, 23 June 2025</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grpSp>
        <p:nvGrpSpPr>
          <p:cNvPr id="12" name="Group 11"/>
          <p:cNvGrpSpPr/>
          <p:nvPr userDrawn="1"/>
        </p:nvGrpSpPr>
        <p:grpSpPr>
          <a:xfrm>
            <a:off x="9842217" y="17838"/>
            <a:ext cx="2313924" cy="600635"/>
            <a:chOff x="9682912" y="8965"/>
            <a:chExt cx="2402541" cy="600635"/>
          </a:xfrm>
        </p:grpSpPr>
        <p:sp>
          <p:nvSpPr>
            <p:cNvPr id="13" name="Rounded Rectangle 12"/>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4"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72407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p:cNvGrpSpPr/>
          <p:nvPr userDrawn="1"/>
        </p:nvGrpSpPr>
        <p:grpSpPr>
          <a:xfrm>
            <a:off x="-35002" y="0"/>
            <a:ext cx="12191145" cy="6858000"/>
            <a:chOff x="-35003" y="-1"/>
            <a:chExt cx="12191144" cy="6858000"/>
          </a:xfrm>
        </p:grpSpPr>
        <p:sp>
          <p:nvSpPr>
            <p:cNvPr id="11" name="Rectangle 10"/>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grpSp>
          <p:nvGrpSpPr>
            <p:cNvPr id="12" name="Group 11"/>
            <p:cNvGrpSpPr/>
            <p:nvPr userDrawn="1"/>
          </p:nvGrpSpPr>
          <p:grpSpPr>
            <a:xfrm>
              <a:off x="0" y="-1"/>
              <a:ext cx="1174375" cy="932329"/>
              <a:chOff x="1" y="0"/>
              <a:chExt cx="995082" cy="663388"/>
            </a:xfrm>
          </p:grpSpPr>
          <p:sp>
            <p:nvSpPr>
              <p:cNvPr id="13"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4"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89"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E72AF35-25D4-42D1-A380-D94D58C90ED6}" type="datetime2">
              <a:rPr lang="en-IN" smtClean="0"/>
              <a:t>Monday, 23 June 2025</a:t>
            </a:fld>
            <a:endParaRPr lang="en-IN"/>
          </a:p>
        </p:txBody>
      </p:sp>
      <p:sp>
        <p:nvSpPr>
          <p:cNvPr id="8" name="Footer Placeholder 7"/>
          <p:cNvSpPr>
            <a:spLocks noGrp="1"/>
          </p:cNvSpPr>
          <p:nvPr>
            <p:ph type="ftr" sz="quarter" idx="11"/>
          </p:nvPr>
        </p:nvSpPr>
        <p:spPr/>
        <p:txBody>
          <a:bodyPr/>
          <a:lstStyle>
            <a:lvl1pPr>
              <a:defRPr b="1">
                <a:solidFill>
                  <a:srgbClr val="C00000"/>
                </a:solidFill>
                <a:latin typeface="Bookman Old Style" panose="02050604050505020204" pitchFamily="18" charset="0"/>
              </a:defRPr>
            </a:lvl1pPr>
          </a:lstStyle>
          <a:p>
            <a:r>
              <a:rPr lang="en-GB" dirty="0"/>
              <a:t>RV COLLEGE OF ENGINEERING</a:t>
            </a:r>
            <a:endParaRPr lang="en-IN" dirty="0"/>
          </a:p>
        </p:txBody>
      </p:sp>
      <p:sp>
        <p:nvSpPr>
          <p:cNvPr id="9" name="Slide Number Placeholder 8"/>
          <p:cNvSpPr>
            <a:spLocks noGrp="1"/>
          </p:cNvSpPr>
          <p:nvPr>
            <p:ph type="sldNum" sz="quarter" idx="12"/>
          </p:nvPr>
        </p:nvSpPr>
        <p:spPr/>
        <p:txBody>
          <a:bodyPr/>
          <a:lstStyle/>
          <a:p>
            <a:fld id="{9BA15CD2-76D6-4EFE-91D9-7087332E3318}" type="slidenum">
              <a:rPr lang="en-IN" smtClean="0"/>
              <a:t>‹#›</a:t>
            </a:fld>
            <a:endParaRPr lang="en-IN"/>
          </a:p>
        </p:txBody>
      </p:sp>
      <p:grpSp>
        <p:nvGrpSpPr>
          <p:cNvPr id="15" name="Group 14"/>
          <p:cNvGrpSpPr/>
          <p:nvPr userDrawn="1"/>
        </p:nvGrpSpPr>
        <p:grpSpPr>
          <a:xfrm>
            <a:off x="9842217" y="17838"/>
            <a:ext cx="2313924" cy="600635"/>
            <a:chOff x="9682912" y="8965"/>
            <a:chExt cx="2402541" cy="600635"/>
          </a:xfrm>
        </p:grpSpPr>
        <p:sp>
          <p:nvSpPr>
            <p:cNvPr id="16" name="Rounded Rectangle 15"/>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7"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2192387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0974DEC-F31F-442A-AF7E-39FCF65F09EF}" type="datetime2">
              <a:rPr lang="en-IN" smtClean="0"/>
              <a:t>Monday, 23 June 2025</a:t>
            </a:fld>
            <a:endParaRPr lang="en-IN"/>
          </a:p>
        </p:txBody>
      </p:sp>
      <p:sp>
        <p:nvSpPr>
          <p:cNvPr id="4" name="Footer Placeholder 3"/>
          <p:cNvSpPr>
            <a:spLocks noGrp="1"/>
          </p:cNvSpPr>
          <p:nvPr>
            <p:ph type="ftr" sz="quarter" idx="11"/>
          </p:nvPr>
        </p:nvSpPr>
        <p:spPr/>
        <p:txBody>
          <a:bodyPr/>
          <a:lstStyle/>
          <a:p>
            <a:r>
              <a:rPr lang="en-IN"/>
              <a:t>RV COLLEGE OF ENGINEERING</a:t>
            </a:r>
          </a:p>
        </p:txBody>
      </p:sp>
      <p:sp>
        <p:nvSpPr>
          <p:cNvPr id="5" name="Slide Number Placeholder 4"/>
          <p:cNvSpPr>
            <a:spLocks noGrp="1"/>
          </p:cNvSpPr>
          <p:nvPr>
            <p:ph type="sldNum" sz="quarter" idx="12"/>
          </p:nvPr>
        </p:nvSpPr>
        <p:spPr/>
        <p:txBody>
          <a:bodyPr/>
          <a:lstStyle/>
          <a:p>
            <a:fld id="{9BA15CD2-76D6-4EFE-91D9-7087332E3318}" type="slidenum">
              <a:rPr lang="en-IN" smtClean="0"/>
              <a:t>‹#›</a:t>
            </a:fld>
            <a:endParaRPr lang="en-IN"/>
          </a:p>
        </p:txBody>
      </p:sp>
      <p:grpSp>
        <p:nvGrpSpPr>
          <p:cNvPr id="7" name="Group 6"/>
          <p:cNvGrpSpPr/>
          <p:nvPr userDrawn="1"/>
        </p:nvGrpSpPr>
        <p:grpSpPr>
          <a:xfrm>
            <a:off x="0" y="1"/>
            <a:ext cx="1174375" cy="932329"/>
            <a:chOff x="1" y="0"/>
            <a:chExt cx="995082" cy="663388"/>
          </a:xfrm>
        </p:grpSpPr>
        <p:sp>
          <p:nvSpPr>
            <p:cNvPr id="8"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9"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nvGrpSpPr>
          <p:cNvPr id="10" name="Group 9"/>
          <p:cNvGrpSpPr/>
          <p:nvPr userDrawn="1"/>
        </p:nvGrpSpPr>
        <p:grpSpPr>
          <a:xfrm>
            <a:off x="9842217" y="17838"/>
            <a:ext cx="2313924" cy="600635"/>
            <a:chOff x="9682912" y="8965"/>
            <a:chExt cx="2402541" cy="600635"/>
          </a:xfrm>
        </p:grpSpPr>
        <p:sp>
          <p:nvSpPr>
            <p:cNvPr id="11" name="Rounded Rectangle 10"/>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2"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44950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856" y="0"/>
            <a:ext cx="12191145"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sp>
        <p:nvSpPr>
          <p:cNvPr id="2" name="Date Placeholder 1"/>
          <p:cNvSpPr>
            <a:spLocks noGrp="1"/>
          </p:cNvSpPr>
          <p:nvPr>
            <p:ph type="dt" sz="half" idx="10"/>
          </p:nvPr>
        </p:nvSpPr>
        <p:spPr/>
        <p:txBody>
          <a:bodyPr/>
          <a:lstStyle/>
          <a:p>
            <a:fld id="{664BAEB3-0664-49E1-9FE0-BA29E4444757}" type="datetime2">
              <a:rPr lang="en-IN" smtClean="0"/>
              <a:t>Monday, 23 June 2025</a:t>
            </a:fld>
            <a:endParaRPr lang="en-IN"/>
          </a:p>
        </p:txBody>
      </p:sp>
      <p:sp>
        <p:nvSpPr>
          <p:cNvPr id="3" name="Footer Placeholder 2"/>
          <p:cNvSpPr>
            <a:spLocks noGrp="1"/>
          </p:cNvSpPr>
          <p:nvPr>
            <p:ph type="ftr" sz="quarter" idx="11"/>
          </p:nvPr>
        </p:nvSpPr>
        <p:spPr/>
        <p:txBody>
          <a:bodyPr/>
          <a:lstStyle/>
          <a:p>
            <a:r>
              <a:rPr lang="en-IN"/>
              <a:t>RV COLLEGE OF ENGINEERING</a:t>
            </a:r>
          </a:p>
        </p:txBody>
      </p:sp>
      <p:sp>
        <p:nvSpPr>
          <p:cNvPr id="4" name="Slide Number Placeholder 3"/>
          <p:cNvSpPr>
            <a:spLocks noGrp="1"/>
          </p:cNvSpPr>
          <p:nvPr>
            <p:ph type="sldNum" sz="quarter" idx="12"/>
          </p:nvPr>
        </p:nvSpPr>
        <p:spPr/>
        <p:txBody>
          <a:bodyPr/>
          <a:lstStyle/>
          <a:p>
            <a:fld id="{9BA15CD2-76D6-4EFE-91D9-7087332E3318}" type="slidenum">
              <a:rPr lang="en-IN" smtClean="0"/>
              <a:t>‹#›</a:t>
            </a:fld>
            <a:endParaRPr lang="en-IN"/>
          </a:p>
        </p:txBody>
      </p:sp>
      <p:grpSp>
        <p:nvGrpSpPr>
          <p:cNvPr id="6" name="Group 5"/>
          <p:cNvGrpSpPr/>
          <p:nvPr userDrawn="1"/>
        </p:nvGrpSpPr>
        <p:grpSpPr>
          <a:xfrm>
            <a:off x="9842217" y="17838"/>
            <a:ext cx="2313924" cy="600635"/>
            <a:chOff x="9682912" y="8965"/>
            <a:chExt cx="2402541" cy="600635"/>
          </a:xfrm>
        </p:grpSpPr>
        <p:sp>
          <p:nvSpPr>
            <p:cNvPr id="7" name="Rounded Rectangle 6"/>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8"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grpSp>
        <p:nvGrpSpPr>
          <p:cNvPr id="9" name="Group 8"/>
          <p:cNvGrpSpPr/>
          <p:nvPr userDrawn="1"/>
        </p:nvGrpSpPr>
        <p:grpSpPr>
          <a:xfrm>
            <a:off x="0" y="1"/>
            <a:ext cx="1174375" cy="932329"/>
            <a:chOff x="1" y="0"/>
            <a:chExt cx="995082" cy="663388"/>
          </a:xfrm>
        </p:grpSpPr>
        <p:sp>
          <p:nvSpPr>
            <p:cNvPr id="10"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1"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51096" y="1605964"/>
            <a:ext cx="5889812" cy="3646074"/>
          </a:xfrm>
          <a:prstGeom prst="rect">
            <a:avLst/>
          </a:prstGeom>
        </p:spPr>
      </p:pic>
    </p:spTree>
    <p:extLst>
      <p:ext uri="{BB962C8B-B14F-4D97-AF65-F5344CB8AC3E}">
        <p14:creationId xmlns:p14="http://schemas.microsoft.com/office/powerpoint/2010/main" val="339075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userDrawn="1"/>
        </p:nvGrpSpPr>
        <p:grpSpPr>
          <a:xfrm>
            <a:off x="-35002" y="0"/>
            <a:ext cx="12191145" cy="6858000"/>
            <a:chOff x="-35003" y="-1"/>
            <a:chExt cx="12191144" cy="6858000"/>
          </a:xfrm>
        </p:grpSpPr>
        <p:sp>
          <p:nvSpPr>
            <p:cNvPr id="9" name="Rectangle 8"/>
            <p:cNvSpPr/>
            <p:nvPr userDrawn="1"/>
          </p:nvSpPr>
          <p:spPr>
            <a:xfrm>
              <a:off x="-35003" y="-1"/>
              <a:ext cx="12191144" cy="6858000"/>
            </a:xfrm>
            <a:prstGeom prst="rect">
              <a:avLst/>
            </a:prstGeom>
            <a:solidFill>
              <a:schemeClr val="lt1">
                <a:alpha val="99000"/>
              </a:schemeClr>
            </a:solidFill>
            <a:ln w="76200">
              <a:solidFill>
                <a:srgbClr val="005893"/>
              </a:solidFill>
            </a:ln>
          </p:spPr>
          <p:style>
            <a:lnRef idx="2">
              <a:schemeClr val="accent4"/>
            </a:lnRef>
            <a:fillRef idx="1">
              <a:schemeClr val="lt1"/>
            </a:fillRef>
            <a:effectRef idx="0">
              <a:schemeClr val="accent4"/>
            </a:effectRef>
            <a:fontRef idx="minor">
              <a:schemeClr val="dk1"/>
            </a:fontRef>
          </p:style>
          <p:txBody>
            <a:bodyPr anchor="ctr"/>
            <a:lstStyle/>
            <a:p>
              <a:pPr algn="ctr">
                <a:defRPr/>
              </a:pPr>
              <a:endParaRPr lang="en-IN" sz="1092" dirty="0">
                <a:solidFill>
                  <a:srgbClr val="FFFFFF"/>
                </a:solidFill>
              </a:endParaRPr>
            </a:p>
          </p:txBody>
        </p:sp>
        <p:grpSp>
          <p:nvGrpSpPr>
            <p:cNvPr id="10" name="Group 9"/>
            <p:cNvGrpSpPr/>
            <p:nvPr userDrawn="1"/>
          </p:nvGrpSpPr>
          <p:grpSpPr>
            <a:xfrm>
              <a:off x="0" y="-1"/>
              <a:ext cx="1174375" cy="932329"/>
              <a:chOff x="1" y="0"/>
              <a:chExt cx="995082" cy="663388"/>
            </a:xfrm>
          </p:grpSpPr>
          <p:sp>
            <p:nvSpPr>
              <p:cNvPr id="11" name="object 3"/>
              <p:cNvSpPr>
                <a:spLocks/>
              </p:cNvSpPr>
              <p:nvPr userDrawn="1"/>
            </p:nvSpPr>
            <p:spPr bwMode="auto">
              <a:xfrm>
                <a:off x="1" y="0"/>
                <a:ext cx="995082" cy="663388"/>
              </a:xfrm>
              <a:custGeom>
                <a:avLst/>
                <a:gdLst>
                  <a:gd name="T0" fmla="*/ 23708288 w 7436484"/>
                  <a:gd name="T1" fmla="*/ 0 h 5134610"/>
                  <a:gd name="T2" fmla="*/ 0 w 7436484"/>
                  <a:gd name="T3" fmla="*/ 0 h 5134610"/>
                  <a:gd name="T4" fmla="*/ 0 w 7436484"/>
                  <a:gd name="T5" fmla="*/ 16402574 h 5134610"/>
                  <a:gd name="T6" fmla="*/ 23708288 w 7436484"/>
                  <a:gd name="T7" fmla="*/ 0 h 5134610"/>
                  <a:gd name="T8" fmla="*/ 0 60000 65536"/>
                  <a:gd name="T9" fmla="*/ 0 60000 65536"/>
                  <a:gd name="T10" fmla="*/ 0 60000 65536"/>
                  <a:gd name="T11" fmla="*/ 0 60000 65536"/>
                  <a:gd name="T12" fmla="*/ 0 w 7436484"/>
                  <a:gd name="T13" fmla="*/ 0 h 5134610"/>
                  <a:gd name="T14" fmla="*/ 7436484 w 7436484"/>
                  <a:gd name="T15" fmla="*/ 5134610 h 5134610"/>
                </a:gdLst>
                <a:ahLst/>
                <a:cxnLst>
                  <a:cxn ang="T8">
                    <a:pos x="T0" y="T1"/>
                  </a:cxn>
                  <a:cxn ang="T9">
                    <a:pos x="T2" y="T3"/>
                  </a:cxn>
                  <a:cxn ang="T10">
                    <a:pos x="T4" y="T5"/>
                  </a:cxn>
                  <a:cxn ang="T11">
                    <a:pos x="T6" y="T7"/>
                  </a:cxn>
                </a:cxnLst>
                <a:rect l="T12" t="T13" r="T14" b="T15"/>
                <a:pathLst>
                  <a:path w="7436484" h="5134610">
                    <a:moveTo>
                      <a:pt x="7435941" y="0"/>
                    </a:moveTo>
                    <a:lnTo>
                      <a:pt x="0" y="0"/>
                    </a:lnTo>
                    <a:lnTo>
                      <a:pt x="0" y="5134513"/>
                    </a:lnTo>
                    <a:lnTo>
                      <a:pt x="7435941" y="0"/>
                    </a:lnTo>
                    <a:close/>
                  </a:path>
                </a:pathLst>
              </a:custGeom>
              <a:solidFill>
                <a:srgbClr val="005893"/>
              </a:solidFill>
              <a:ln w="9525">
                <a:noFill/>
                <a:round/>
                <a:headEnd/>
                <a:tailEnd/>
              </a:ln>
            </p:spPr>
            <p:txBody>
              <a:bodyPr lIns="0" tIns="0" rIns="0" bIns="0"/>
              <a:lstStyle/>
              <a:p>
                <a:endParaRPr lang="en-IN" sz="1092"/>
              </a:p>
            </p:txBody>
          </p:sp>
          <p:sp>
            <p:nvSpPr>
              <p:cNvPr id="12" name="object 4"/>
              <p:cNvSpPr>
                <a:spLocks noChangeArrowheads="1"/>
              </p:cNvSpPr>
              <p:nvPr userDrawn="1"/>
            </p:nvSpPr>
            <p:spPr bwMode="auto">
              <a:xfrm>
                <a:off x="73957" y="36743"/>
                <a:ext cx="383242" cy="310714"/>
              </a:xfrm>
              <a:prstGeom prst="rect">
                <a:avLst/>
              </a:prstGeom>
              <a:blipFill dpi="0" rotWithShape="1">
                <a:blip r:embed="rId2" cstate="print"/>
                <a:srcRect/>
                <a:stretch>
                  <a:fillRect/>
                </a:stretch>
              </a:blipFill>
              <a:ln w="9525">
                <a:noFill/>
                <a:miter lim="800000"/>
                <a:headEnd/>
                <a:tailEnd/>
              </a:ln>
            </p:spPr>
            <p:txBody>
              <a:bodyPr lIns="0" tIns="0" rIns="0" bIns="0"/>
              <a:lstStyle/>
              <a:p>
                <a:pPr eaLnBrk="1" hangingPunct="1"/>
                <a:endParaRPr lang="en-US" altLang="en-US" sz="1092"/>
              </a:p>
            </p:txBody>
          </p:sp>
        </p:grpSp>
      </p:grpSp>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1F77AC3-F117-417D-9C17-587E6F3BE300}" type="datetime2">
              <a:rPr lang="en-IN" smtClean="0"/>
              <a:t>Monday, 23 June 2025</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grpSp>
        <p:nvGrpSpPr>
          <p:cNvPr id="13" name="Group 12"/>
          <p:cNvGrpSpPr/>
          <p:nvPr userDrawn="1"/>
        </p:nvGrpSpPr>
        <p:grpSpPr>
          <a:xfrm>
            <a:off x="9842217" y="17838"/>
            <a:ext cx="2313924" cy="600635"/>
            <a:chOff x="9682912" y="8965"/>
            <a:chExt cx="2402541" cy="600635"/>
          </a:xfrm>
        </p:grpSpPr>
        <p:sp>
          <p:nvSpPr>
            <p:cNvPr id="14" name="Rounded Rectangle 13"/>
            <p:cNvSpPr/>
            <p:nvPr userDrawn="1"/>
          </p:nvSpPr>
          <p:spPr>
            <a:xfrm>
              <a:off x="9682912" y="8965"/>
              <a:ext cx="2402541" cy="600635"/>
            </a:xfrm>
            <a:prstGeom prst="roundRect">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latin typeface="+mj-lt"/>
              </a:endParaRPr>
            </a:p>
          </p:txBody>
        </p:sp>
        <p:sp>
          <p:nvSpPr>
            <p:cNvPr id="15" name="object 7"/>
            <p:cNvSpPr txBox="1"/>
            <p:nvPr userDrawn="1"/>
          </p:nvSpPr>
          <p:spPr>
            <a:xfrm>
              <a:off x="9803934" y="193190"/>
              <a:ext cx="2160495" cy="223220"/>
            </a:xfrm>
            <a:prstGeom prst="rect">
              <a:avLst/>
            </a:prstGeom>
          </p:spPr>
          <p:txBody>
            <a:bodyPr wrap="square" lIns="0" tIns="7701" rIns="0" bIns="0">
              <a:spAutoFit/>
            </a:bodyPr>
            <a:lstStyle/>
            <a:p>
              <a:pPr marL="7701" algn="ctr">
                <a:spcBef>
                  <a:spcPts val="61"/>
                </a:spcBef>
                <a:defRPr/>
              </a:pPr>
              <a:r>
                <a:rPr sz="1400" b="1" i="1" spc="-3" dirty="0">
                  <a:solidFill>
                    <a:srgbClr val="422C75"/>
                  </a:solidFill>
                  <a:latin typeface="Bookman Old Style" panose="02050604050505020204" pitchFamily="18" charset="0"/>
                  <a:ea typeface="ＭＳ Ｐゴシック" charset="0"/>
                  <a:cs typeface="Playfair Display"/>
                </a:rPr>
                <a:t>Go, change </a:t>
              </a:r>
              <a:r>
                <a:rPr sz="1400" b="1" i="1" dirty="0">
                  <a:solidFill>
                    <a:srgbClr val="422C75"/>
                  </a:solidFill>
                  <a:latin typeface="Bookman Old Style" panose="02050604050505020204" pitchFamily="18" charset="0"/>
                  <a:ea typeface="ＭＳ Ｐゴシック" charset="0"/>
                  <a:cs typeface="Playfair Display"/>
                </a:rPr>
                <a:t>the</a:t>
              </a:r>
              <a:r>
                <a:rPr sz="1400" b="1" i="1" spc="-49" dirty="0">
                  <a:solidFill>
                    <a:srgbClr val="422C75"/>
                  </a:solidFill>
                  <a:latin typeface="Bookman Old Style" panose="02050604050505020204" pitchFamily="18" charset="0"/>
                  <a:ea typeface="ＭＳ Ｐゴシック" charset="0"/>
                  <a:cs typeface="Playfair Display"/>
                </a:rPr>
                <a:t> </a:t>
              </a:r>
              <a:r>
                <a:rPr sz="1400" b="1" i="1" spc="-3" dirty="0">
                  <a:solidFill>
                    <a:srgbClr val="422C75"/>
                  </a:solidFill>
                  <a:latin typeface="Bookman Old Style" panose="02050604050505020204" pitchFamily="18" charset="0"/>
                  <a:ea typeface="ＭＳ Ｐゴシック" charset="0"/>
                  <a:cs typeface="Playfair Display"/>
                </a:rPr>
                <a:t>world</a:t>
              </a:r>
              <a:endParaRPr sz="1400" b="1" dirty="0">
                <a:latin typeface="Bookman Old Style" panose="02050604050505020204" pitchFamily="18" charset="0"/>
                <a:ea typeface="ＭＳ Ｐゴシック" charset="0"/>
                <a:cs typeface="Playfair Display"/>
              </a:endParaRPr>
            </a:p>
          </p:txBody>
        </p:sp>
      </p:grpSp>
    </p:spTree>
    <p:extLst>
      <p:ext uri="{BB962C8B-B14F-4D97-AF65-F5344CB8AC3E}">
        <p14:creationId xmlns:p14="http://schemas.microsoft.com/office/powerpoint/2010/main" val="986681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51A392-D277-4C60-80CA-4155BF24A22F}" type="datetime2">
              <a:rPr lang="en-IN" smtClean="0"/>
              <a:t>Monday, 23 June 2025</a:t>
            </a:fld>
            <a:endParaRPr lang="en-IN"/>
          </a:p>
        </p:txBody>
      </p:sp>
      <p:sp>
        <p:nvSpPr>
          <p:cNvPr id="6" name="Footer Placeholder 5"/>
          <p:cNvSpPr>
            <a:spLocks noGrp="1"/>
          </p:cNvSpPr>
          <p:nvPr>
            <p:ph type="ftr" sz="quarter" idx="11"/>
          </p:nvPr>
        </p:nvSpPr>
        <p:spPr/>
        <p:txBody>
          <a:bodyPr/>
          <a:lstStyle/>
          <a:p>
            <a:r>
              <a:rPr lang="en-IN"/>
              <a:t>RV COLLEGE OF ENGINEERING</a:t>
            </a:r>
          </a:p>
        </p:txBody>
      </p:sp>
      <p:sp>
        <p:nvSpPr>
          <p:cNvPr id="7" name="Slide Number Placeholder 6"/>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71507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57930-B2AB-48F5-8AD5-4A9179262E34}" type="datetime2">
              <a:rPr lang="en-IN" smtClean="0"/>
              <a:t>Monday, 23 June 2025</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3216580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120EB2B-9CFC-43E8-806F-531A6B6EF1FD}" type="datetime2">
              <a:rPr lang="en-IN" smtClean="0"/>
              <a:t>Monday, 23 June 2025</a:t>
            </a:fld>
            <a:endParaRPr lang="en-IN"/>
          </a:p>
        </p:txBody>
      </p:sp>
      <p:sp>
        <p:nvSpPr>
          <p:cNvPr id="5" name="Footer Placeholder 4"/>
          <p:cNvSpPr>
            <a:spLocks noGrp="1"/>
          </p:cNvSpPr>
          <p:nvPr>
            <p:ph type="ftr" sz="quarter" idx="11"/>
          </p:nvPr>
        </p:nvSpPr>
        <p:spPr/>
        <p:txBody>
          <a:bodyPr/>
          <a:lstStyle/>
          <a:p>
            <a:r>
              <a:rPr lang="en-IN"/>
              <a:t>RV COLLEGE OF ENGINEERING</a:t>
            </a:r>
          </a:p>
        </p:txBody>
      </p:sp>
      <p:sp>
        <p:nvSpPr>
          <p:cNvPr id="6" name="Slide Number Placeholder 5"/>
          <p:cNvSpPr>
            <a:spLocks noGrp="1"/>
          </p:cNvSpPr>
          <p:nvPr>
            <p:ph type="sldNum" sz="quarter" idx="12"/>
          </p:nvPr>
        </p:nvSpPr>
        <p:spPr/>
        <p:txBody>
          <a:bodyPr/>
          <a:lstStyle/>
          <a:p>
            <a:fld id="{9BA15CD2-76D6-4EFE-91D9-7087332E3318}" type="slidenum">
              <a:rPr lang="en-IN" smtClean="0"/>
              <a:t>‹#›</a:t>
            </a:fld>
            <a:endParaRPr lang="en-IN"/>
          </a:p>
        </p:txBody>
      </p:sp>
    </p:spTree>
    <p:extLst>
      <p:ext uri="{BB962C8B-B14F-4D97-AF65-F5344CB8AC3E}">
        <p14:creationId xmlns:p14="http://schemas.microsoft.com/office/powerpoint/2010/main" val="1216403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D0449F-E26E-4CC2-B153-3EB375A0CF11}" type="datetime2">
              <a:rPr lang="en-IN" smtClean="0"/>
              <a:t>Monday, 23 June 2025</a:t>
            </a:fld>
            <a:endParaRPr lang="en-IN"/>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RV COLLEGE OF ENGINEERING</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A15CD2-76D6-4EFE-91D9-7087332E3318}" type="slidenum">
              <a:rPr lang="en-IN" smtClean="0"/>
              <a:t>‹#›</a:t>
            </a:fld>
            <a:endParaRPr lang="en-IN"/>
          </a:p>
        </p:txBody>
      </p:sp>
    </p:spTree>
    <p:extLst>
      <p:ext uri="{BB962C8B-B14F-4D97-AF65-F5344CB8AC3E}">
        <p14:creationId xmlns:p14="http://schemas.microsoft.com/office/powerpoint/2010/main" val="362659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2F227B2-6E6E-A65E-A828-6F23B8D5E0AD}"/>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4C9311E5-35F6-67F8-BA96-85A5A20D3355}"/>
              </a:ext>
            </a:extLst>
          </p:cNvPr>
          <p:cNvSpPr>
            <a:spLocks noGrp="1"/>
          </p:cNvSpPr>
          <p:nvPr>
            <p:ph type="sldNum" sz="quarter" idx="12"/>
          </p:nvPr>
        </p:nvSpPr>
        <p:spPr/>
        <p:txBody>
          <a:bodyPr/>
          <a:lstStyle/>
          <a:p>
            <a:fld id="{9BA15CD2-76D6-4EFE-91D9-7087332E3318}" type="slidenum">
              <a:rPr lang="en-IN" smtClean="0"/>
              <a:pPr/>
              <a:t>1</a:t>
            </a:fld>
            <a:endParaRPr lang="en-IN" dirty="0"/>
          </a:p>
        </p:txBody>
      </p:sp>
      <p:pic>
        <p:nvPicPr>
          <p:cNvPr id="7" name="Content Placeholder 6" descr="A building with a roof&#10;&#10;Description automatically generated">
            <a:extLst>
              <a:ext uri="{FF2B5EF4-FFF2-40B4-BE49-F238E27FC236}">
                <a16:creationId xmlns:a16="http://schemas.microsoft.com/office/drawing/2014/main" id="{4FFF1151-EB75-7914-B2AB-B16B6A02070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21879" y="1067010"/>
            <a:ext cx="11421075" cy="389408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47401447-E36D-D6F9-70CD-9802DA9AD004}"/>
              </a:ext>
            </a:extLst>
          </p:cNvPr>
          <p:cNvSpPr/>
          <p:nvPr/>
        </p:nvSpPr>
        <p:spPr>
          <a:xfrm>
            <a:off x="349046" y="4146929"/>
            <a:ext cx="11493908" cy="100481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altLang="en-US" sz="3600" b="1" dirty="0">
                <a:solidFill>
                  <a:schemeClr val="bg1"/>
                </a:solidFill>
                <a:latin typeface="Bookman Old Style" panose="02050604050505020204" pitchFamily="18" charset="0"/>
                <a:cs typeface="Arial" panose="020B0604020202020204" pitchFamily="34" charset="0"/>
              </a:rPr>
              <a:t>Lithium nanoparticle based Battery</a:t>
            </a:r>
            <a:endParaRPr lang="en-GB" altLang="en-US" sz="3600" b="1" baseline="0" dirty="0">
              <a:solidFill>
                <a:schemeClr val="bg1"/>
              </a:solidFill>
              <a:latin typeface="Bookman Old Style" panose="02050604050505020204" pitchFamily="18" charset="0"/>
              <a:cs typeface="Arial" panose="020B0604020202020204" pitchFamily="34" charset="0"/>
            </a:endParaRPr>
          </a:p>
        </p:txBody>
      </p:sp>
      <p:sp>
        <p:nvSpPr>
          <p:cNvPr id="5" name="Rectangle: Rounded Corners 4">
            <a:extLst>
              <a:ext uri="{FF2B5EF4-FFF2-40B4-BE49-F238E27FC236}">
                <a16:creationId xmlns:a16="http://schemas.microsoft.com/office/drawing/2014/main" id="{2E49E1EB-59AB-C0C7-9FA4-FC809A9DB13F}"/>
              </a:ext>
            </a:extLst>
          </p:cNvPr>
          <p:cNvSpPr/>
          <p:nvPr/>
        </p:nvSpPr>
        <p:spPr>
          <a:xfrm>
            <a:off x="349045" y="5288583"/>
            <a:ext cx="11421075" cy="100481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altLang="en-US" sz="3600" b="1" baseline="0" dirty="0">
                <a:solidFill>
                  <a:schemeClr val="bg1"/>
                </a:solidFill>
                <a:latin typeface="Bookman Old Style" panose="02050604050505020204" pitchFamily="18" charset="0"/>
                <a:cs typeface="Arial" panose="020B0604020202020204" pitchFamily="34" charset="0"/>
              </a:rPr>
              <a:t>Advanced Materials</a:t>
            </a:r>
            <a:r>
              <a:rPr lang="en-GB" altLang="en-US" sz="3600" b="1" dirty="0">
                <a:solidFill>
                  <a:schemeClr val="bg1"/>
                </a:solidFill>
                <a:latin typeface="Bookman Old Style" panose="02050604050505020204" pitchFamily="18" charset="0"/>
                <a:cs typeface="Arial" panose="020B0604020202020204" pitchFamily="34" charset="0"/>
              </a:rPr>
              <a:t> – Team 21</a:t>
            </a:r>
            <a:endParaRPr lang="en-GB" altLang="en-US" sz="3600" b="1" baseline="0" dirty="0">
              <a:solidFill>
                <a:schemeClr val="bg1"/>
              </a:solidFill>
              <a:latin typeface="Bookman Old Style" panose="02050604050505020204" pitchFamily="18" charset="0"/>
              <a:cs typeface="Arial" panose="020B0604020202020204" pitchFamily="34" charset="0"/>
            </a:endParaRPr>
          </a:p>
        </p:txBody>
      </p:sp>
    </p:spTree>
    <p:extLst>
      <p:ext uri="{BB962C8B-B14F-4D97-AF65-F5344CB8AC3E}">
        <p14:creationId xmlns:p14="http://schemas.microsoft.com/office/powerpoint/2010/main" val="3494285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6889F6E-2644-470A-09AE-09617FF74D5A}"/>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C7811D0B-A497-CCEB-18F3-DF0DC6D1628D}"/>
              </a:ext>
            </a:extLst>
          </p:cNvPr>
          <p:cNvSpPr>
            <a:spLocks noGrp="1"/>
          </p:cNvSpPr>
          <p:nvPr>
            <p:ph type="sldNum" sz="quarter" idx="12"/>
          </p:nvPr>
        </p:nvSpPr>
        <p:spPr/>
        <p:txBody>
          <a:bodyPr/>
          <a:lstStyle/>
          <a:p>
            <a:fld id="{9BA15CD2-76D6-4EFE-91D9-7087332E3318}" type="slidenum">
              <a:rPr lang="en-IN" smtClean="0"/>
              <a:pPr/>
              <a:t>2</a:t>
            </a:fld>
            <a:endParaRPr lang="en-IN" dirty="0"/>
          </a:p>
        </p:txBody>
      </p:sp>
      <p:sp>
        <p:nvSpPr>
          <p:cNvPr id="6" name="Title 1">
            <a:extLst>
              <a:ext uri="{FF2B5EF4-FFF2-40B4-BE49-F238E27FC236}">
                <a16:creationId xmlns:a16="http://schemas.microsoft.com/office/drawing/2014/main" id="{77D65D47-7027-ADE3-D340-A4D5404FDE4B}"/>
              </a:ext>
            </a:extLst>
          </p:cNvPr>
          <p:cNvSpPr txBox="1">
            <a:spLocks/>
          </p:cNvSpPr>
          <p:nvPr/>
        </p:nvSpPr>
        <p:spPr>
          <a:xfrm>
            <a:off x="2086949" y="98356"/>
            <a:ext cx="9535245" cy="824653"/>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dirty="0"/>
              <a:t>Asymmetric Hybrid Supercapacitor</a:t>
            </a:r>
          </a:p>
        </p:txBody>
      </p:sp>
      <p:sp>
        <p:nvSpPr>
          <p:cNvPr id="8" name="Title 1">
            <a:extLst>
              <a:ext uri="{FF2B5EF4-FFF2-40B4-BE49-F238E27FC236}">
                <a16:creationId xmlns:a16="http://schemas.microsoft.com/office/drawing/2014/main" id="{4573A078-BA93-071D-8183-CC619DC9A598}"/>
              </a:ext>
            </a:extLst>
          </p:cNvPr>
          <p:cNvSpPr txBox="1">
            <a:spLocks/>
          </p:cNvSpPr>
          <p:nvPr/>
        </p:nvSpPr>
        <p:spPr>
          <a:xfrm>
            <a:off x="273502" y="4530269"/>
            <a:ext cx="4001246" cy="1122930"/>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2000" dirty="0"/>
              <a:t>Dr Sham </a:t>
            </a:r>
            <a:r>
              <a:rPr lang="en-IN" sz="2000" dirty="0" err="1"/>
              <a:t>Aan</a:t>
            </a:r>
            <a:r>
              <a:rPr lang="en-IN" sz="2000" dirty="0"/>
              <a:t> M P</a:t>
            </a:r>
          </a:p>
        </p:txBody>
      </p:sp>
      <p:sp>
        <p:nvSpPr>
          <p:cNvPr id="5" name="TextBox 4">
            <a:extLst>
              <a:ext uri="{FF2B5EF4-FFF2-40B4-BE49-F238E27FC236}">
                <a16:creationId xmlns:a16="http://schemas.microsoft.com/office/drawing/2014/main" id="{3E646A01-8D95-8273-95B2-BBEE2A8614BD}"/>
              </a:ext>
            </a:extLst>
          </p:cNvPr>
          <p:cNvSpPr txBox="1"/>
          <p:nvPr/>
        </p:nvSpPr>
        <p:spPr>
          <a:xfrm>
            <a:off x="9221273" y="5622385"/>
            <a:ext cx="2348206" cy="400110"/>
          </a:xfrm>
          <a:prstGeom prst="rect">
            <a:avLst/>
          </a:prstGeom>
          <a:noFill/>
        </p:spPr>
        <p:txBody>
          <a:bodyPr wrap="square">
            <a:spAutoFit/>
          </a:bodyPr>
          <a:lstStyle/>
          <a:p>
            <a:r>
              <a:rPr lang="en-IN" sz="2000" dirty="0">
                <a:solidFill>
                  <a:srgbClr val="000000"/>
                </a:solidFill>
                <a:latin typeface="Arial" panose="020B0604020202020204" pitchFamily="34" charset="0"/>
              </a:rPr>
              <a:t>Manoj Gupta D B</a:t>
            </a:r>
            <a:r>
              <a:rPr lang="en-IN" sz="2000" dirty="0"/>
              <a:t> </a:t>
            </a:r>
          </a:p>
        </p:txBody>
      </p:sp>
      <p:sp>
        <p:nvSpPr>
          <p:cNvPr id="15" name="TextBox 14">
            <a:extLst>
              <a:ext uri="{FF2B5EF4-FFF2-40B4-BE49-F238E27FC236}">
                <a16:creationId xmlns:a16="http://schemas.microsoft.com/office/drawing/2014/main" id="{905788F0-B345-1014-780F-0AEE64FE910E}"/>
              </a:ext>
            </a:extLst>
          </p:cNvPr>
          <p:cNvSpPr txBox="1"/>
          <p:nvPr/>
        </p:nvSpPr>
        <p:spPr>
          <a:xfrm>
            <a:off x="4709836" y="3307021"/>
            <a:ext cx="6094324" cy="400110"/>
          </a:xfrm>
          <a:prstGeom prst="rect">
            <a:avLst/>
          </a:prstGeom>
          <a:noFill/>
        </p:spPr>
        <p:txBody>
          <a:bodyPr wrap="square">
            <a:spAutoFit/>
          </a:bodyPr>
          <a:lstStyle/>
          <a:p>
            <a:r>
              <a:rPr lang="en-IN" sz="2000" dirty="0">
                <a:solidFill>
                  <a:srgbClr val="000000"/>
                </a:solidFill>
                <a:latin typeface="Arial" panose="020B0604020202020204" pitchFamily="34" charset="0"/>
              </a:rPr>
              <a:t>Abhinav Mallela</a:t>
            </a:r>
            <a:endParaRPr lang="en-IN" sz="2000" dirty="0"/>
          </a:p>
        </p:txBody>
      </p:sp>
      <p:sp>
        <p:nvSpPr>
          <p:cNvPr id="19" name="TextBox 18">
            <a:extLst>
              <a:ext uri="{FF2B5EF4-FFF2-40B4-BE49-F238E27FC236}">
                <a16:creationId xmlns:a16="http://schemas.microsoft.com/office/drawing/2014/main" id="{8924FC1A-082D-C28B-38C4-BA4E2E96C75A}"/>
              </a:ext>
            </a:extLst>
          </p:cNvPr>
          <p:cNvSpPr txBox="1"/>
          <p:nvPr/>
        </p:nvSpPr>
        <p:spPr>
          <a:xfrm>
            <a:off x="9137903" y="3302336"/>
            <a:ext cx="6938384" cy="400110"/>
          </a:xfrm>
          <a:prstGeom prst="rect">
            <a:avLst/>
          </a:prstGeom>
          <a:noFill/>
        </p:spPr>
        <p:txBody>
          <a:bodyPr wrap="square">
            <a:spAutoFit/>
          </a:bodyPr>
          <a:lstStyle/>
          <a:p>
            <a:r>
              <a:rPr lang="en-IN" sz="2000" dirty="0">
                <a:solidFill>
                  <a:srgbClr val="000000"/>
                </a:solidFill>
                <a:latin typeface="Arial" panose="020B0604020202020204" pitchFamily="34" charset="0"/>
              </a:rPr>
              <a:t>Vaibhav M</a:t>
            </a:r>
            <a:r>
              <a:rPr lang="en-IN" sz="2000" dirty="0"/>
              <a:t> </a:t>
            </a:r>
          </a:p>
        </p:txBody>
      </p:sp>
      <p:sp>
        <p:nvSpPr>
          <p:cNvPr id="22" name="TextBox 21">
            <a:extLst>
              <a:ext uri="{FF2B5EF4-FFF2-40B4-BE49-F238E27FC236}">
                <a16:creationId xmlns:a16="http://schemas.microsoft.com/office/drawing/2014/main" id="{46CFC074-4CA5-32E3-A09F-38A1E1753F44}"/>
              </a:ext>
            </a:extLst>
          </p:cNvPr>
          <p:cNvSpPr txBox="1"/>
          <p:nvPr/>
        </p:nvSpPr>
        <p:spPr>
          <a:xfrm>
            <a:off x="4688700" y="5653199"/>
            <a:ext cx="3390174" cy="400110"/>
          </a:xfrm>
          <a:prstGeom prst="rect">
            <a:avLst/>
          </a:prstGeom>
          <a:noFill/>
        </p:spPr>
        <p:txBody>
          <a:bodyPr wrap="square">
            <a:spAutoFit/>
          </a:bodyPr>
          <a:lstStyle/>
          <a:p>
            <a:r>
              <a:rPr lang="en-IN" sz="2000" b="0" i="0" u="none" strike="noStrike" dirty="0">
                <a:solidFill>
                  <a:srgbClr val="000000"/>
                </a:solidFill>
                <a:effectLst/>
                <a:latin typeface="Arial" panose="020B0604020202020204" pitchFamily="34" charset="0"/>
              </a:rPr>
              <a:t>Dakshraj </a:t>
            </a:r>
            <a:r>
              <a:rPr lang="en-IN" sz="2000" dirty="0">
                <a:solidFill>
                  <a:srgbClr val="000000"/>
                </a:solidFill>
                <a:latin typeface="Arial" panose="020B0604020202020204" pitchFamily="34" charset="0"/>
              </a:rPr>
              <a:t>S</a:t>
            </a:r>
            <a:r>
              <a:rPr lang="en-IN" sz="2000" b="0" i="0" u="none" strike="noStrike" dirty="0">
                <a:solidFill>
                  <a:srgbClr val="000000"/>
                </a:solidFill>
                <a:effectLst/>
                <a:latin typeface="Arial" panose="020B0604020202020204" pitchFamily="34" charset="0"/>
              </a:rPr>
              <a:t>hetty</a:t>
            </a:r>
            <a:endParaRPr lang="en-IN" sz="2000" dirty="0"/>
          </a:p>
        </p:txBody>
      </p:sp>
      <p:pic>
        <p:nvPicPr>
          <p:cNvPr id="7" name="Picture 6" descr="A person wearing glasses and a red and blue striped shirt&#10;&#10;Description automatically generated">
            <a:extLst>
              <a:ext uri="{FF2B5EF4-FFF2-40B4-BE49-F238E27FC236}">
                <a16:creationId xmlns:a16="http://schemas.microsoft.com/office/drawing/2014/main" id="{9D146794-BD13-BD4B-CDDB-E11E22D35E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7786" y="1193090"/>
            <a:ext cx="1582859" cy="2035105"/>
          </a:xfrm>
          <a:prstGeom prst="rect">
            <a:avLst/>
          </a:prstGeom>
        </p:spPr>
      </p:pic>
      <p:sp>
        <p:nvSpPr>
          <p:cNvPr id="10" name="AutoShape 2">
            <a:extLst>
              <a:ext uri="{FF2B5EF4-FFF2-40B4-BE49-F238E27FC236}">
                <a16:creationId xmlns:a16="http://schemas.microsoft.com/office/drawing/2014/main" id="{D06FCC17-6818-5F62-C971-2B74E0CA9D6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A8D06749-EAEC-0106-FEE1-81B485069EFA}"/>
              </a:ext>
            </a:extLst>
          </p:cNvPr>
          <p:cNvPicPr>
            <a:picLocks noChangeAspect="1"/>
          </p:cNvPicPr>
          <p:nvPr/>
        </p:nvPicPr>
        <p:blipFill>
          <a:blip r:embed="rId4"/>
          <a:stretch>
            <a:fillRect/>
          </a:stretch>
        </p:blipFill>
        <p:spPr>
          <a:xfrm>
            <a:off x="4822220" y="3864783"/>
            <a:ext cx="1421686" cy="1813561"/>
          </a:xfrm>
          <a:prstGeom prst="rect">
            <a:avLst/>
          </a:prstGeom>
        </p:spPr>
      </p:pic>
      <p:pic>
        <p:nvPicPr>
          <p:cNvPr id="18" name="Picture 17">
            <a:extLst>
              <a:ext uri="{FF2B5EF4-FFF2-40B4-BE49-F238E27FC236}">
                <a16:creationId xmlns:a16="http://schemas.microsoft.com/office/drawing/2014/main" id="{3B5D7E40-B7E8-2DA4-0B55-2A1B7FF14E3F}"/>
              </a:ext>
            </a:extLst>
          </p:cNvPr>
          <p:cNvPicPr>
            <a:picLocks noChangeAspect="1"/>
          </p:cNvPicPr>
          <p:nvPr/>
        </p:nvPicPr>
        <p:blipFill>
          <a:blip r:embed="rId5"/>
          <a:stretch>
            <a:fillRect/>
          </a:stretch>
        </p:blipFill>
        <p:spPr>
          <a:xfrm>
            <a:off x="9201255" y="3702446"/>
            <a:ext cx="1478885" cy="1899486"/>
          </a:xfrm>
          <a:prstGeom prst="rect">
            <a:avLst/>
          </a:prstGeom>
        </p:spPr>
      </p:pic>
      <p:pic>
        <p:nvPicPr>
          <p:cNvPr id="11" name="Picture 10">
            <a:extLst>
              <a:ext uri="{FF2B5EF4-FFF2-40B4-BE49-F238E27FC236}">
                <a16:creationId xmlns:a16="http://schemas.microsoft.com/office/drawing/2014/main" id="{B40F05EB-B8DC-3EFE-86C0-72558E2D6704}"/>
              </a:ext>
            </a:extLst>
          </p:cNvPr>
          <p:cNvPicPr>
            <a:picLocks noChangeAspect="1"/>
          </p:cNvPicPr>
          <p:nvPr/>
        </p:nvPicPr>
        <p:blipFill>
          <a:blip r:embed="rId6"/>
          <a:stretch>
            <a:fillRect/>
          </a:stretch>
        </p:blipFill>
        <p:spPr>
          <a:xfrm>
            <a:off x="9057159" y="1125881"/>
            <a:ext cx="1622981" cy="2063610"/>
          </a:xfrm>
          <a:prstGeom prst="rect">
            <a:avLst/>
          </a:prstGeom>
        </p:spPr>
      </p:pic>
      <p:sp>
        <p:nvSpPr>
          <p:cNvPr id="2" name="AutoShape 2" descr="Image">
            <a:extLst>
              <a:ext uri="{FF2B5EF4-FFF2-40B4-BE49-F238E27FC236}">
                <a16:creationId xmlns:a16="http://schemas.microsoft.com/office/drawing/2014/main" id="{B6EC5937-1BFF-44DD-BE1D-E800F8A1C78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C9B906C7-A2D7-4BA9-B0E9-E53D2C2DC360}"/>
              </a:ext>
            </a:extLst>
          </p:cNvPr>
          <p:cNvPicPr>
            <a:picLocks noChangeAspect="1"/>
          </p:cNvPicPr>
          <p:nvPr/>
        </p:nvPicPr>
        <p:blipFill>
          <a:blip r:embed="rId7"/>
          <a:stretch>
            <a:fillRect/>
          </a:stretch>
        </p:blipFill>
        <p:spPr>
          <a:xfrm>
            <a:off x="1054806" y="2188212"/>
            <a:ext cx="2438637" cy="2628357"/>
          </a:xfrm>
          <a:prstGeom prst="rect">
            <a:avLst/>
          </a:prstGeom>
        </p:spPr>
      </p:pic>
    </p:spTree>
    <p:extLst>
      <p:ext uri="{BB962C8B-B14F-4D97-AF65-F5344CB8AC3E}">
        <p14:creationId xmlns:p14="http://schemas.microsoft.com/office/powerpoint/2010/main" val="875307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B1C1988-AE0B-88A3-3DF6-11D7B6584DFA}"/>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3B09EF8A-63AB-0729-F7A0-B08D1E293C9B}"/>
              </a:ext>
            </a:extLst>
          </p:cNvPr>
          <p:cNvSpPr>
            <a:spLocks noGrp="1"/>
          </p:cNvSpPr>
          <p:nvPr>
            <p:ph type="sldNum" sz="quarter" idx="12"/>
          </p:nvPr>
        </p:nvSpPr>
        <p:spPr/>
        <p:txBody>
          <a:bodyPr/>
          <a:lstStyle/>
          <a:p>
            <a:fld id="{9BA15CD2-76D6-4EFE-91D9-7087332E3318}" type="slidenum">
              <a:rPr lang="en-IN" smtClean="0"/>
              <a:pPr/>
              <a:t>3</a:t>
            </a:fld>
            <a:endParaRPr lang="en-IN" dirty="0"/>
          </a:p>
        </p:txBody>
      </p:sp>
      <p:sp>
        <p:nvSpPr>
          <p:cNvPr id="6" name="Title 1">
            <a:extLst>
              <a:ext uri="{FF2B5EF4-FFF2-40B4-BE49-F238E27FC236}">
                <a16:creationId xmlns:a16="http://schemas.microsoft.com/office/drawing/2014/main" id="{BEBB7EA9-E087-F494-97C5-06B13A2535A6}"/>
              </a:ext>
            </a:extLst>
          </p:cNvPr>
          <p:cNvSpPr txBox="1">
            <a:spLocks/>
          </p:cNvSpPr>
          <p:nvPr/>
        </p:nvSpPr>
        <p:spPr>
          <a:xfrm>
            <a:off x="2339498" y="178833"/>
            <a:ext cx="8551282" cy="6386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dirty="0">
              <a:solidFill>
                <a:srgbClr val="C00000"/>
              </a:solidFill>
            </a:endParaRPr>
          </a:p>
        </p:txBody>
      </p:sp>
      <p:sp>
        <p:nvSpPr>
          <p:cNvPr id="2" name="Title 1">
            <a:extLst>
              <a:ext uri="{FF2B5EF4-FFF2-40B4-BE49-F238E27FC236}">
                <a16:creationId xmlns:a16="http://schemas.microsoft.com/office/drawing/2014/main" id="{F4C92045-E69D-E287-24F9-F3EC5A13CCB1}"/>
              </a:ext>
            </a:extLst>
          </p:cNvPr>
          <p:cNvSpPr txBox="1">
            <a:spLocks/>
          </p:cNvSpPr>
          <p:nvPr/>
        </p:nvSpPr>
        <p:spPr>
          <a:xfrm>
            <a:off x="2182762" y="89747"/>
            <a:ext cx="8151863" cy="1319953"/>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EL Phase-II</a:t>
            </a:r>
          </a:p>
          <a:p>
            <a:r>
              <a:rPr lang="en-US" sz="4000" dirty="0"/>
              <a:t>P</a:t>
            </a:r>
            <a:r>
              <a:rPr lang="en-IN" sz="4000" dirty="0" err="1"/>
              <a:t>resentation</a:t>
            </a:r>
            <a:r>
              <a:rPr lang="en-IN" sz="4000" dirty="0"/>
              <a:t> Outline</a:t>
            </a:r>
          </a:p>
        </p:txBody>
      </p:sp>
      <p:sp>
        <p:nvSpPr>
          <p:cNvPr id="8" name="Content Placeholder 7">
            <a:extLst>
              <a:ext uri="{FF2B5EF4-FFF2-40B4-BE49-F238E27FC236}">
                <a16:creationId xmlns:a16="http://schemas.microsoft.com/office/drawing/2014/main" id="{EB2484C8-68BC-9AA1-D8C5-282E3D75696E}"/>
              </a:ext>
            </a:extLst>
          </p:cNvPr>
          <p:cNvSpPr>
            <a:spLocks noGrp="1"/>
          </p:cNvSpPr>
          <p:nvPr>
            <p:ph idx="1"/>
          </p:nvPr>
        </p:nvSpPr>
        <p:spPr>
          <a:xfrm>
            <a:off x="355601" y="1498786"/>
            <a:ext cx="11661590" cy="5180381"/>
          </a:xfrm>
        </p:spPr>
        <p:txBody>
          <a:bodyPr>
            <a:normAutofit/>
          </a:bodyPr>
          <a:lstStyle/>
          <a:p>
            <a:r>
              <a:rPr lang="en-US" b="1" dirty="0">
                <a:latin typeface="Bahnschrift SemiBold" panose="020B0502040204020203" pitchFamily="34" charset="0"/>
              </a:rPr>
              <a:t>Introduction</a:t>
            </a:r>
          </a:p>
          <a:p>
            <a:r>
              <a:rPr lang="en-US" b="1" dirty="0">
                <a:latin typeface="Bahnschrift SemiBold" panose="020B0502040204020203" pitchFamily="34" charset="0"/>
              </a:rPr>
              <a:t>Project Overview</a:t>
            </a:r>
          </a:p>
          <a:p>
            <a:r>
              <a:rPr lang="en-US" b="1" dirty="0">
                <a:latin typeface="Bahnschrift SemiBold" panose="020B0502040204020203" pitchFamily="34" charset="0"/>
              </a:rPr>
              <a:t>Comments during EL Phase-I and action taken.</a:t>
            </a:r>
          </a:p>
          <a:p>
            <a:r>
              <a:rPr lang="en-US" b="1" dirty="0">
                <a:latin typeface="Bahnschrift SemiBold" panose="020B0502040204020203" pitchFamily="34" charset="0"/>
              </a:rPr>
              <a:t>Tools and Techniques Used</a:t>
            </a:r>
          </a:p>
          <a:p>
            <a:r>
              <a:rPr lang="en-US" b="1" dirty="0">
                <a:latin typeface="Bahnschrift SemiBold" panose="020B0502040204020203" pitchFamily="34" charset="0"/>
              </a:rPr>
              <a:t>Project Progress</a:t>
            </a:r>
          </a:p>
          <a:p>
            <a:r>
              <a:rPr lang="en-IN" b="1" dirty="0">
                <a:latin typeface="Bahnschrift SemiBold" panose="020B0502040204020203" pitchFamily="34" charset="0"/>
              </a:rPr>
              <a:t>Analysis of Partial Results</a:t>
            </a:r>
          </a:p>
          <a:p>
            <a:r>
              <a:rPr lang="en-IN" b="1" dirty="0">
                <a:latin typeface="Bahnschrift SemiBold" panose="020B0502040204020203" pitchFamily="34" charset="0"/>
              </a:rPr>
              <a:t>Deliverables and Outcomes</a:t>
            </a:r>
          </a:p>
          <a:p>
            <a:r>
              <a:rPr lang="en-US" b="1" dirty="0">
                <a:latin typeface="Bahnschrift SemiBold" panose="020B0502040204020203" pitchFamily="34" charset="0"/>
              </a:rPr>
              <a:t>Future work (Remaining tasks)</a:t>
            </a:r>
            <a:endParaRPr lang="en-IN" b="1" dirty="0">
              <a:latin typeface="Bahnschrift SemiBold" panose="020B0502040204020203" pitchFamily="34" charset="0"/>
            </a:endParaRPr>
          </a:p>
          <a:p>
            <a:r>
              <a:rPr lang="en-IN" b="1" dirty="0">
                <a:latin typeface="Bahnschrift SemiBold" panose="020B0502040204020203" pitchFamily="34" charset="0"/>
              </a:rPr>
              <a:t>Conclusion</a:t>
            </a:r>
          </a:p>
        </p:txBody>
      </p:sp>
    </p:spTree>
    <p:extLst>
      <p:ext uri="{BB962C8B-B14F-4D97-AF65-F5344CB8AC3E}">
        <p14:creationId xmlns:p14="http://schemas.microsoft.com/office/powerpoint/2010/main" val="658094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251775-AAB3-6740-9A5D-BF7C9197E45B}"/>
              </a:ext>
            </a:extLst>
          </p:cNvPr>
          <p:cNvSpPr>
            <a:spLocks noGrp="1"/>
          </p:cNvSpPr>
          <p:nvPr>
            <p:ph idx="1"/>
          </p:nvPr>
        </p:nvSpPr>
        <p:spPr/>
        <p:txBody>
          <a:bodyPr>
            <a:normAutofit/>
          </a:bodyPr>
          <a:lstStyle/>
          <a:p>
            <a:pPr fontAlgn="base"/>
            <a:r>
              <a:rPr lang="en-US" b="0" i="0" dirty="0">
                <a:effectLst/>
                <a:latin typeface="Bahnschrift SemiBold" panose="020B0502040204020203" pitchFamily="34" charset="0"/>
              </a:rPr>
              <a:t>Growing demand for efficient, sustainable, and portable energy solutions has made energy storage technologies crucial. </a:t>
            </a:r>
          </a:p>
          <a:p>
            <a:pPr fontAlgn="base"/>
            <a:r>
              <a:rPr lang="en-US" b="0" i="0" dirty="0">
                <a:effectLst/>
                <a:latin typeface="Bahnschrift SemiBold" panose="020B0502040204020203" pitchFamily="34" charset="0"/>
              </a:rPr>
              <a:t>Batteries and supercapacitors are key technologies supporting electric vehicles, portable electronics, renewable energy systems, and grid stabilization.</a:t>
            </a:r>
          </a:p>
          <a:p>
            <a:pPr fontAlgn="base"/>
            <a:r>
              <a:rPr lang="en-US" b="0" i="0" dirty="0">
                <a:effectLst/>
                <a:latin typeface="Bahnschrift SemiBold" panose="020B0502040204020203" pitchFamily="34" charset="0"/>
              </a:rPr>
              <a:t>Batteries offer high energy density and long-term storage capabilities.</a:t>
            </a:r>
          </a:p>
          <a:p>
            <a:pPr fontAlgn="base"/>
            <a:r>
              <a:rPr lang="en-US" b="0" i="0" dirty="0">
                <a:effectLst/>
                <a:latin typeface="Bahnschrift SemiBold" panose="020B0502040204020203" pitchFamily="34" charset="0"/>
              </a:rPr>
              <a:t>Supercapacitors provide rapid charge/discharge cycles and high power density.</a:t>
            </a:r>
          </a:p>
          <a:p>
            <a:pPr fontAlgn="base"/>
            <a:r>
              <a:rPr lang="en-US" b="0" i="0" dirty="0">
                <a:effectLst/>
                <a:latin typeface="Bahnschrift SemiBold" panose="020B0502040204020203" pitchFamily="34" charset="0"/>
              </a:rPr>
              <a:t>Together, they address the challenges of modern energy storage with complementary strengths.</a:t>
            </a:r>
          </a:p>
          <a:p>
            <a:pPr marL="0" indent="0" algn="l" fontAlgn="base">
              <a:buNone/>
            </a:pPr>
            <a:endParaRPr lang="en-US" b="0" i="0" dirty="0">
              <a:effectLst/>
              <a:latin typeface="Bahnschrift" panose="020B0502040204020203" pitchFamily="34" charset="0"/>
            </a:endParaRPr>
          </a:p>
          <a:p>
            <a:endParaRPr lang="en-IN" dirty="0"/>
          </a:p>
          <a:p>
            <a:endParaRPr lang="en-IN" dirty="0"/>
          </a:p>
        </p:txBody>
      </p:sp>
      <p:sp>
        <p:nvSpPr>
          <p:cNvPr id="3" name="Date Placeholder 2">
            <a:extLst>
              <a:ext uri="{FF2B5EF4-FFF2-40B4-BE49-F238E27FC236}">
                <a16:creationId xmlns:a16="http://schemas.microsoft.com/office/drawing/2014/main" id="{EDFCC6EA-140E-7258-C5BE-07A799DCC575}"/>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991113B7-13B3-C292-E8C9-16465C8FCA55}"/>
              </a:ext>
            </a:extLst>
          </p:cNvPr>
          <p:cNvSpPr>
            <a:spLocks noGrp="1"/>
          </p:cNvSpPr>
          <p:nvPr>
            <p:ph type="sldNum" sz="quarter" idx="12"/>
          </p:nvPr>
        </p:nvSpPr>
        <p:spPr/>
        <p:txBody>
          <a:bodyPr/>
          <a:lstStyle/>
          <a:p>
            <a:fld id="{9BA15CD2-76D6-4EFE-91D9-7087332E3318}" type="slidenum">
              <a:rPr lang="en-IN" smtClean="0"/>
              <a:pPr/>
              <a:t>4</a:t>
            </a:fld>
            <a:endParaRPr lang="en-IN" dirty="0"/>
          </a:p>
        </p:txBody>
      </p:sp>
      <p:sp>
        <p:nvSpPr>
          <p:cNvPr id="2" name="Title 1">
            <a:extLst>
              <a:ext uri="{FF2B5EF4-FFF2-40B4-BE49-F238E27FC236}">
                <a16:creationId xmlns:a16="http://schemas.microsoft.com/office/drawing/2014/main" id="{8D8FE783-AFDF-B298-CC26-D9899A64E440}"/>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Introduction</a:t>
            </a:r>
            <a:endParaRPr lang="en-IN" sz="4000" dirty="0"/>
          </a:p>
        </p:txBody>
      </p:sp>
    </p:spTree>
    <p:extLst>
      <p:ext uri="{BB962C8B-B14F-4D97-AF65-F5344CB8AC3E}">
        <p14:creationId xmlns:p14="http://schemas.microsoft.com/office/powerpoint/2010/main" val="1964942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0D1D3-A7FF-5841-01CF-FCFB6C504FA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A9A31C5-F30E-9FDF-7581-7669195364AF}"/>
              </a:ext>
            </a:extLst>
          </p:cNvPr>
          <p:cNvSpPr>
            <a:spLocks noGrp="1"/>
          </p:cNvSpPr>
          <p:nvPr>
            <p:ph idx="1"/>
          </p:nvPr>
        </p:nvSpPr>
        <p:spPr/>
        <p:txBody>
          <a:bodyPr/>
          <a:lstStyle/>
          <a:p>
            <a:r>
              <a:rPr lang="en-US" b="1" u="sng" dirty="0"/>
              <a:t>Problem Statement:</a:t>
            </a:r>
          </a:p>
          <a:p>
            <a:pPr marL="0" indent="0">
              <a:buNone/>
            </a:pPr>
            <a:r>
              <a:rPr lang="en-US" dirty="0">
                <a:latin typeface="Bahnschrift SemiBold" panose="020B0502040204020203" pitchFamily="34" charset="0"/>
              </a:rPr>
              <a:t>Despite significant advancements in lithium-ion battery technology, traditional electrode materials face limitations in energy density, charging speed, cycle life, and safety. Using Lithium based nanomaterials can help enhance charge storage due to the high surface area and improved conductivity.</a:t>
            </a:r>
            <a:endParaRPr lang="en-IN" dirty="0"/>
          </a:p>
        </p:txBody>
      </p:sp>
      <p:sp>
        <p:nvSpPr>
          <p:cNvPr id="3" name="Date Placeholder 2">
            <a:extLst>
              <a:ext uri="{FF2B5EF4-FFF2-40B4-BE49-F238E27FC236}">
                <a16:creationId xmlns:a16="http://schemas.microsoft.com/office/drawing/2014/main" id="{19E6A2C1-60E6-1EAA-2722-A39F2DCA1C9A}"/>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D256559B-36AA-7A34-03C9-404AF862F7A7}"/>
              </a:ext>
            </a:extLst>
          </p:cNvPr>
          <p:cNvSpPr>
            <a:spLocks noGrp="1"/>
          </p:cNvSpPr>
          <p:nvPr>
            <p:ph type="sldNum" sz="quarter" idx="12"/>
          </p:nvPr>
        </p:nvSpPr>
        <p:spPr/>
        <p:txBody>
          <a:bodyPr/>
          <a:lstStyle/>
          <a:p>
            <a:r>
              <a:rPr lang="en-IN" dirty="0"/>
              <a:t>Slide No. </a:t>
            </a:r>
            <a:fld id="{9BA15CD2-76D6-4EFE-91D9-7087332E3318}" type="slidenum">
              <a:rPr lang="en-IN" smtClean="0"/>
              <a:pPr/>
              <a:t>5</a:t>
            </a:fld>
            <a:endParaRPr lang="en-IN" dirty="0"/>
          </a:p>
        </p:txBody>
      </p:sp>
      <p:sp>
        <p:nvSpPr>
          <p:cNvPr id="2" name="Title 1">
            <a:extLst>
              <a:ext uri="{FF2B5EF4-FFF2-40B4-BE49-F238E27FC236}">
                <a16:creationId xmlns:a16="http://schemas.microsoft.com/office/drawing/2014/main" id="{C9D4BBCA-657F-D9F7-4811-B65B0F318537}"/>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Project Overview</a:t>
            </a:r>
          </a:p>
        </p:txBody>
      </p:sp>
    </p:spTree>
    <p:extLst>
      <p:ext uri="{BB962C8B-B14F-4D97-AF65-F5344CB8AC3E}">
        <p14:creationId xmlns:p14="http://schemas.microsoft.com/office/powerpoint/2010/main" val="1451446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6</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191229" y="0"/>
            <a:ext cx="8146571" cy="1032933"/>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Project Overview</a:t>
            </a:r>
          </a:p>
        </p:txBody>
      </p:sp>
      <p:sp>
        <p:nvSpPr>
          <p:cNvPr id="7" name="Rectangle: Rounded Corners 6">
            <a:extLst>
              <a:ext uri="{FF2B5EF4-FFF2-40B4-BE49-F238E27FC236}">
                <a16:creationId xmlns:a16="http://schemas.microsoft.com/office/drawing/2014/main" id="{48BE90CE-28F9-A308-2D92-5A50A43CDE8A}"/>
              </a:ext>
            </a:extLst>
          </p:cNvPr>
          <p:cNvSpPr/>
          <p:nvPr/>
        </p:nvSpPr>
        <p:spPr>
          <a:xfrm>
            <a:off x="625816" y="1108213"/>
            <a:ext cx="7141560" cy="4641574"/>
          </a:xfrm>
          <a:prstGeom prst="roundRect">
            <a:avLst>
              <a:gd name="adj" fmla="val 143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tx1"/>
                </a:solidFill>
                <a:latin typeface="Berlin Sans FB Demi" panose="020E0802020502020306" pitchFamily="34" charset="0"/>
              </a:rPr>
              <a:t>Primary objectives:</a:t>
            </a:r>
            <a:r>
              <a:rPr lang="en-IN" sz="3200" b="1" dirty="0">
                <a:solidFill>
                  <a:schemeClr val="tx1"/>
                </a:solidFill>
                <a:latin typeface="Berlin Sans FB" panose="020E0602020502020306" pitchFamily="34" charset="0"/>
              </a:rPr>
              <a:t> </a:t>
            </a:r>
          </a:p>
          <a:p>
            <a:r>
              <a:rPr lang="en-US" sz="2000" b="0" i="0" dirty="0">
                <a:effectLst/>
                <a:latin typeface="gg sans"/>
              </a:rPr>
              <a:t> </a:t>
            </a:r>
            <a:r>
              <a:rPr lang="en-US" sz="2000" b="0" i="0" dirty="0">
                <a:effectLst/>
                <a:latin typeface="Bahnschrift SemiBold" panose="020B0502040204020203" pitchFamily="34" charset="0"/>
              </a:rPr>
              <a:t>• To synthesize Li2ZnSiO4 using solution combustion method </a:t>
            </a:r>
          </a:p>
          <a:p>
            <a:r>
              <a:rPr lang="en-US" sz="2000" b="0" i="0" dirty="0">
                <a:effectLst/>
                <a:latin typeface="Bahnschrift SemiBold" panose="020B0502040204020203" pitchFamily="34" charset="0"/>
              </a:rPr>
              <a:t>• To synthesize electrodes of the prepared nanomaterial using Toray carbon sheets </a:t>
            </a:r>
          </a:p>
          <a:p>
            <a:r>
              <a:rPr lang="en-US" sz="2000" b="0" i="0" dirty="0">
                <a:effectLst/>
                <a:latin typeface="Bahnschrift SemiBold" panose="020B0502040204020203" pitchFamily="34" charset="0"/>
              </a:rPr>
              <a:t>• To perform electrochemical testing on the prepared electrodes </a:t>
            </a:r>
          </a:p>
          <a:p>
            <a:r>
              <a:rPr lang="en-US" sz="2000" b="0" i="0" dirty="0">
                <a:effectLst/>
                <a:latin typeface="Bahnschrift SemiBold" panose="020B0502040204020203" pitchFamily="34" charset="0"/>
              </a:rPr>
              <a:t>• To prepare a solid-state electrolyte by synthesizing Li2Al2Si3O10 </a:t>
            </a:r>
          </a:p>
          <a:p>
            <a:r>
              <a:rPr lang="en-US" sz="2000" b="0" i="0" dirty="0">
                <a:effectLst/>
                <a:latin typeface="Bahnschrift SemiBold" panose="020B0502040204020203" pitchFamily="34" charset="0"/>
              </a:rPr>
              <a:t>• To manufacture coin cell</a:t>
            </a:r>
            <a:endParaRPr lang="en-IN" sz="2000" dirty="0">
              <a:latin typeface="Bahnschrift SemiBold" panose="020B0502040204020203" pitchFamily="34" charset="0"/>
            </a:endParaRPr>
          </a:p>
        </p:txBody>
      </p:sp>
      <p:sp>
        <p:nvSpPr>
          <p:cNvPr id="8" name="Rectangle: Rounded Corners 7">
            <a:extLst>
              <a:ext uri="{FF2B5EF4-FFF2-40B4-BE49-F238E27FC236}">
                <a16:creationId xmlns:a16="http://schemas.microsoft.com/office/drawing/2014/main" id="{12D142C3-0596-D9F8-6CEC-B99A1D7DAA4E}"/>
              </a:ext>
            </a:extLst>
          </p:cNvPr>
          <p:cNvSpPr/>
          <p:nvPr/>
        </p:nvSpPr>
        <p:spPr>
          <a:xfrm>
            <a:off x="8435359" y="1108214"/>
            <a:ext cx="3130825" cy="4641574"/>
          </a:xfrm>
          <a:prstGeom prst="roundRect">
            <a:avLst>
              <a:gd name="adj" fmla="val 1700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800" b="1" dirty="0">
                <a:solidFill>
                  <a:schemeClr val="tx1"/>
                </a:solidFill>
                <a:latin typeface="Berlin Sans FB Demi" panose="020E0802020502020306" pitchFamily="34" charset="0"/>
              </a:rPr>
              <a:t>Secondary Objectives :</a:t>
            </a:r>
          </a:p>
          <a:p>
            <a:r>
              <a:rPr lang="en-US" b="0" i="0" dirty="0">
                <a:effectLst/>
                <a:latin typeface="Bahnschrift SemiBold" panose="020B0502040204020203" pitchFamily="34" charset="0"/>
              </a:rPr>
              <a:t>• </a:t>
            </a:r>
            <a:r>
              <a:rPr lang="en-US" sz="2000" b="0" i="0" dirty="0">
                <a:effectLst/>
                <a:latin typeface="Bahnschrift SemiBold" panose="020B0502040204020203" pitchFamily="34" charset="0"/>
              </a:rPr>
              <a:t>Conduct research on possible applications of the coin cell.</a:t>
            </a:r>
          </a:p>
          <a:p>
            <a:r>
              <a:rPr lang="en-US" sz="2000" b="0" i="0" dirty="0">
                <a:effectLst/>
                <a:latin typeface="Bahnschrift SemiBold" panose="020B0502040204020203" pitchFamily="34" charset="0"/>
              </a:rPr>
              <a:t>• Publish a research paper that includes all the relevant findings from this project.</a:t>
            </a:r>
            <a:endParaRPr lang="en-IN" sz="2000" dirty="0">
              <a:latin typeface="Bahnschrift SemiBold" panose="020B0502040204020203" pitchFamily="34" charset="0"/>
            </a:endParaRPr>
          </a:p>
          <a:p>
            <a:pPr algn="ctr"/>
            <a:endParaRPr lang="en-IN" dirty="0"/>
          </a:p>
        </p:txBody>
      </p:sp>
    </p:spTree>
    <p:extLst>
      <p:ext uri="{BB962C8B-B14F-4D97-AF65-F5344CB8AC3E}">
        <p14:creationId xmlns:p14="http://schemas.microsoft.com/office/powerpoint/2010/main" val="2551868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CD6A5-6728-DB83-75AB-4F86BA2FC57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0F26A8D-E45C-9312-D4D8-4C337913AD07}"/>
              </a:ext>
            </a:extLst>
          </p:cNvPr>
          <p:cNvSpPr>
            <a:spLocks noGrp="1"/>
          </p:cNvSpPr>
          <p:nvPr>
            <p:ph idx="1"/>
          </p:nvPr>
        </p:nvSpPr>
        <p:spPr/>
        <p:txBody>
          <a:bodyPr/>
          <a:lstStyle/>
          <a:p>
            <a:pPr marL="0" indent="0">
              <a:buNone/>
            </a:pPr>
            <a:r>
              <a:rPr lang="en-US" b="1" u="sng" dirty="0"/>
              <a:t>Potential Impacts:</a:t>
            </a:r>
          </a:p>
          <a:p>
            <a:pPr marL="0" indent="0">
              <a:buNone/>
            </a:pPr>
            <a:r>
              <a:rPr lang="en-US" b="1" dirty="0">
                <a:latin typeface="Bahnschrift SemiBold" panose="020B0502040204020203" pitchFamily="34" charset="0"/>
              </a:rPr>
              <a:t>The development of lithium based nanomaterial electrodes with solid state electrolytes could greatly advance battery technology by enabling safer, longer lasting and higher capacity energy storage, impacting day to day applications such as </a:t>
            </a:r>
          </a:p>
          <a:p>
            <a:r>
              <a:rPr lang="en-US" b="1" dirty="0">
                <a:latin typeface="Bahnschrift SemiBold" panose="020B0502040204020203" pitchFamily="34" charset="0"/>
              </a:rPr>
              <a:t>EV’s </a:t>
            </a:r>
          </a:p>
          <a:p>
            <a:r>
              <a:rPr lang="en-US" b="1" dirty="0">
                <a:latin typeface="Bahnschrift SemiBold" panose="020B0502040204020203" pitchFamily="34" charset="0"/>
              </a:rPr>
              <a:t>portable electronics </a:t>
            </a:r>
          </a:p>
          <a:p>
            <a:r>
              <a:rPr lang="en-US" b="1" dirty="0">
                <a:latin typeface="Bahnschrift SemiBold" panose="020B0502040204020203" pitchFamily="34" charset="0"/>
              </a:rPr>
              <a:t>grid storage systems</a:t>
            </a:r>
          </a:p>
        </p:txBody>
      </p:sp>
      <p:sp>
        <p:nvSpPr>
          <p:cNvPr id="3" name="Date Placeholder 2">
            <a:extLst>
              <a:ext uri="{FF2B5EF4-FFF2-40B4-BE49-F238E27FC236}">
                <a16:creationId xmlns:a16="http://schemas.microsoft.com/office/drawing/2014/main" id="{C13F3AA9-29D4-13A6-8DD0-A21C4ACBD00B}"/>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DC731B35-C3C9-4EEA-7168-35AFC3D02AA3}"/>
              </a:ext>
            </a:extLst>
          </p:cNvPr>
          <p:cNvSpPr>
            <a:spLocks noGrp="1"/>
          </p:cNvSpPr>
          <p:nvPr>
            <p:ph type="sldNum" sz="quarter" idx="12"/>
          </p:nvPr>
        </p:nvSpPr>
        <p:spPr/>
        <p:txBody>
          <a:bodyPr/>
          <a:lstStyle/>
          <a:p>
            <a:r>
              <a:rPr lang="en-IN" dirty="0"/>
              <a:t>Slide No. </a:t>
            </a:r>
            <a:fld id="{9BA15CD2-76D6-4EFE-91D9-7087332E3318}" type="slidenum">
              <a:rPr lang="en-IN" smtClean="0"/>
              <a:pPr/>
              <a:t>7</a:t>
            </a:fld>
            <a:endParaRPr lang="en-IN" dirty="0"/>
          </a:p>
        </p:txBody>
      </p:sp>
      <p:sp>
        <p:nvSpPr>
          <p:cNvPr id="2" name="Title 1">
            <a:extLst>
              <a:ext uri="{FF2B5EF4-FFF2-40B4-BE49-F238E27FC236}">
                <a16:creationId xmlns:a16="http://schemas.microsoft.com/office/drawing/2014/main" id="{D7FA5784-6D59-5ECA-D433-1A828B0748C7}"/>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Project Overview</a:t>
            </a:r>
          </a:p>
        </p:txBody>
      </p:sp>
    </p:spTree>
    <p:extLst>
      <p:ext uri="{BB962C8B-B14F-4D97-AF65-F5344CB8AC3E}">
        <p14:creationId xmlns:p14="http://schemas.microsoft.com/office/powerpoint/2010/main" val="1114131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8161F-D06A-7D03-32A0-5D1DD36A2A27}"/>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4CAB4B4-E7D9-0C44-BDB8-13360E196C87}"/>
              </a:ext>
            </a:extLst>
          </p:cNvPr>
          <p:cNvSpPr>
            <a:spLocks noGrp="1"/>
          </p:cNvSpPr>
          <p:nvPr>
            <p:ph idx="1"/>
          </p:nvPr>
        </p:nvSpPr>
        <p:spPr/>
        <p:txBody>
          <a:bodyPr>
            <a:normAutofit lnSpcReduction="10000"/>
          </a:bodyPr>
          <a:lstStyle/>
          <a:p>
            <a:r>
              <a:rPr lang="en-IN" b="1" dirty="0"/>
              <a:t>Comments:</a:t>
            </a:r>
          </a:p>
          <a:p>
            <a:pPr marL="0" indent="0">
              <a:buNone/>
            </a:pPr>
            <a:r>
              <a:rPr lang="en-IN" dirty="0">
                <a:latin typeface="Bahnschrift SemiBold" panose="020B0502040204020203" pitchFamily="34" charset="0"/>
              </a:rPr>
              <a:t>More independent research rather than overly relying on professors help</a:t>
            </a:r>
          </a:p>
          <a:p>
            <a:pPr marL="0" indent="0">
              <a:buNone/>
            </a:pPr>
            <a:endParaRPr lang="en-IN" dirty="0"/>
          </a:p>
          <a:p>
            <a:r>
              <a:rPr lang="en-IN" b="1" dirty="0"/>
              <a:t>Actions Taken:</a:t>
            </a:r>
          </a:p>
          <a:p>
            <a:pPr marL="0" indent="0">
              <a:buNone/>
            </a:pPr>
            <a:r>
              <a:rPr lang="en-IN" dirty="0">
                <a:latin typeface="Bahnschrift SemiBold" panose="020B0502040204020203" pitchFamily="34" charset="0"/>
              </a:rPr>
              <a:t>A more independent approach was taken while tackling the objectives, such as:</a:t>
            </a:r>
          </a:p>
          <a:p>
            <a:pPr marL="514350" indent="-514350">
              <a:buFont typeface="+mj-lt"/>
              <a:buAutoNum type="arabicPeriod"/>
            </a:pPr>
            <a:r>
              <a:rPr lang="en-IN" dirty="0">
                <a:latin typeface="Bahnschrift SemiBold" panose="020B0502040204020203" pitchFamily="34" charset="0"/>
              </a:rPr>
              <a:t>XRD plotting was done by ourselves</a:t>
            </a:r>
          </a:p>
          <a:p>
            <a:pPr marL="514350" indent="-514350">
              <a:buFont typeface="+mj-lt"/>
              <a:buAutoNum type="arabicPeriod"/>
            </a:pPr>
            <a:r>
              <a:rPr lang="en-IN" dirty="0">
                <a:latin typeface="Bahnschrift SemiBold" panose="020B0502040204020203" pitchFamily="34" charset="0"/>
              </a:rPr>
              <a:t>Entire calculation and the solution combustion method was done independently by applying prior experience</a:t>
            </a:r>
          </a:p>
          <a:p>
            <a:pPr marL="514350" indent="-514350">
              <a:buFont typeface="+mj-lt"/>
              <a:buAutoNum type="arabicPeriod"/>
            </a:pPr>
            <a:r>
              <a:rPr lang="en-IN" dirty="0">
                <a:latin typeface="Bahnschrift SemiBold" panose="020B0502040204020203" pitchFamily="34" charset="0"/>
              </a:rPr>
              <a:t>Conducted research on potential tests that can be done </a:t>
            </a:r>
          </a:p>
          <a:p>
            <a:pPr marL="514350" indent="-514350">
              <a:buFont typeface="+mj-lt"/>
              <a:buAutoNum type="arabicPeriod"/>
            </a:pPr>
            <a:endParaRPr lang="en-IN" dirty="0"/>
          </a:p>
        </p:txBody>
      </p:sp>
      <p:sp>
        <p:nvSpPr>
          <p:cNvPr id="3" name="Date Placeholder 2">
            <a:extLst>
              <a:ext uri="{FF2B5EF4-FFF2-40B4-BE49-F238E27FC236}">
                <a16:creationId xmlns:a16="http://schemas.microsoft.com/office/drawing/2014/main" id="{33AE1037-A60E-44C5-9572-62E8D4296AE1}"/>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1F690D42-AE24-A1A5-733A-5DB49AB5301A}"/>
              </a:ext>
            </a:extLst>
          </p:cNvPr>
          <p:cNvSpPr>
            <a:spLocks noGrp="1"/>
          </p:cNvSpPr>
          <p:nvPr>
            <p:ph type="sldNum" sz="quarter" idx="12"/>
          </p:nvPr>
        </p:nvSpPr>
        <p:spPr/>
        <p:txBody>
          <a:bodyPr/>
          <a:lstStyle/>
          <a:p>
            <a:r>
              <a:rPr lang="en-IN" dirty="0"/>
              <a:t>Slide No. </a:t>
            </a:r>
            <a:fld id="{9BA15CD2-76D6-4EFE-91D9-7087332E3318}" type="slidenum">
              <a:rPr lang="en-IN" smtClean="0"/>
              <a:pPr/>
              <a:t>8</a:t>
            </a:fld>
            <a:endParaRPr lang="en-IN" dirty="0"/>
          </a:p>
        </p:txBody>
      </p:sp>
      <p:sp>
        <p:nvSpPr>
          <p:cNvPr id="2" name="Title 1">
            <a:extLst>
              <a:ext uri="{FF2B5EF4-FFF2-40B4-BE49-F238E27FC236}">
                <a16:creationId xmlns:a16="http://schemas.microsoft.com/office/drawing/2014/main" id="{21B63D6E-C21B-6CE3-F37E-F40628D2820A}"/>
              </a:ext>
            </a:extLst>
          </p:cNvPr>
          <p:cNvSpPr txBox="1">
            <a:spLocks/>
          </p:cNvSpPr>
          <p:nvPr/>
        </p:nvSpPr>
        <p:spPr>
          <a:xfrm>
            <a:off x="1725561" y="145670"/>
            <a:ext cx="9834426" cy="1242863"/>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4000" dirty="0"/>
              <a:t>Comments during EL Phase-I and action taken</a:t>
            </a:r>
          </a:p>
        </p:txBody>
      </p:sp>
    </p:spTree>
    <p:extLst>
      <p:ext uri="{BB962C8B-B14F-4D97-AF65-F5344CB8AC3E}">
        <p14:creationId xmlns:p14="http://schemas.microsoft.com/office/powerpoint/2010/main" val="1254413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A26E-D7C7-CBB1-C462-4192015C9A5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D0A43BB-0B85-6C11-1115-9239B6EECD40}"/>
              </a:ext>
            </a:extLst>
          </p:cNvPr>
          <p:cNvSpPr>
            <a:spLocks noGrp="1"/>
          </p:cNvSpPr>
          <p:nvPr>
            <p:ph idx="1"/>
          </p:nvPr>
        </p:nvSpPr>
        <p:spPr>
          <a:xfrm>
            <a:off x="174813" y="1258282"/>
            <a:ext cx="5768787" cy="4918680"/>
          </a:xfrm>
        </p:spPr>
        <p:txBody>
          <a:bodyPr>
            <a:normAutofit lnSpcReduction="10000"/>
          </a:bodyPr>
          <a:lstStyle/>
          <a:p>
            <a:r>
              <a:rPr lang="en-IN" b="1" dirty="0"/>
              <a:t>For the synthesis of the solid state electrolyte (Li2Al2Si3O10):</a:t>
            </a:r>
          </a:p>
          <a:p>
            <a:pPr marL="514350" indent="-514350">
              <a:buFont typeface="+mj-lt"/>
              <a:buAutoNum type="arabicPeriod"/>
            </a:pPr>
            <a:r>
              <a:rPr lang="en-IN" dirty="0">
                <a:latin typeface="Bahnschrift SemiBold" panose="020B0502040204020203" pitchFamily="34" charset="0"/>
              </a:rPr>
              <a:t>Lithium Nitrate</a:t>
            </a:r>
          </a:p>
          <a:p>
            <a:pPr marL="514350" indent="-514350">
              <a:buFont typeface="+mj-lt"/>
              <a:buAutoNum type="arabicPeriod"/>
            </a:pPr>
            <a:r>
              <a:rPr lang="en-IN" dirty="0">
                <a:latin typeface="Bahnschrift SemiBold" panose="020B0502040204020203" pitchFamily="34" charset="0"/>
              </a:rPr>
              <a:t>Aluminium Nitrate</a:t>
            </a:r>
          </a:p>
          <a:p>
            <a:pPr marL="514350" indent="-514350">
              <a:buFont typeface="+mj-lt"/>
              <a:buAutoNum type="arabicPeriod"/>
            </a:pPr>
            <a:r>
              <a:rPr lang="en-IN" dirty="0">
                <a:latin typeface="Bahnschrift SemiBold" panose="020B0502040204020203" pitchFamily="34" charset="0"/>
              </a:rPr>
              <a:t>Silicic Acid</a:t>
            </a:r>
          </a:p>
          <a:p>
            <a:pPr marL="514350" indent="-514350">
              <a:buFont typeface="+mj-lt"/>
              <a:buAutoNum type="arabicPeriod"/>
            </a:pPr>
            <a:r>
              <a:rPr lang="en-IN" dirty="0">
                <a:latin typeface="Bahnschrift SemiBold" panose="020B0502040204020203" pitchFamily="34" charset="0"/>
              </a:rPr>
              <a:t>Ascorbic Acid</a:t>
            </a:r>
          </a:p>
          <a:p>
            <a:pPr marL="0" indent="0">
              <a:buNone/>
            </a:pPr>
            <a:r>
              <a:rPr lang="en-IN" dirty="0">
                <a:latin typeface="Bahnschrift SemiBold" panose="020B0502040204020203" pitchFamily="34" charset="0"/>
              </a:rPr>
              <a:t>Technique used for synthesis : </a:t>
            </a:r>
            <a:r>
              <a:rPr lang="en-IN" u="sng" dirty="0">
                <a:latin typeface="Bahnschrift SemiBold" panose="020B0502040204020203" pitchFamily="34" charset="0"/>
              </a:rPr>
              <a:t>Solution Combustion Method.</a:t>
            </a:r>
          </a:p>
          <a:p>
            <a:r>
              <a:rPr lang="en-IN" b="1" dirty="0"/>
              <a:t>For calcination:</a:t>
            </a:r>
          </a:p>
          <a:p>
            <a:pPr marL="0" indent="0">
              <a:buNone/>
            </a:pPr>
            <a:r>
              <a:rPr lang="en-IN" dirty="0">
                <a:latin typeface="Bahnschrift SemiBold" panose="020B0502040204020203" pitchFamily="34" charset="0"/>
              </a:rPr>
              <a:t>Tubular furnace was used</a:t>
            </a:r>
          </a:p>
        </p:txBody>
      </p:sp>
      <p:sp>
        <p:nvSpPr>
          <p:cNvPr id="3" name="Date Placeholder 2">
            <a:extLst>
              <a:ext uri="{FF2B5EF4-FFF2-40B4-BE49-F238E27FC236}">
                <a16:creationId xmlns:a16="http://schemas.microsoft.com/office/drawing/2014/main" id="{E0032379-F748-B3AA-2A4D-97887EAA151E}"/>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1A43033E-C6C3-F08C-29A3-56BD7FEC17D1}"/>
              </a:ext>
            </a:extLst>
          </p:cNvPr>
          <p:cNvSpPr>
            <a:spLocks noGrp="1"/>
          </p:cNvSpPr>
          <p:nvPr>
            <p:ph type="sldNum" sz="quarter" idx="12"/>
          </p:nvPr>
        </p:nvSpPr>
        <p:spPr/>
        <p:txBody>
          <a:bodyPr/>
          <a:lstStyle/>
          <a:p>
            <a:r>
              <a:rPr lang="en-IN" dirty="0"/>
              <a:t>Slide No. </a:t>
            </a:r>
            <a:fld id="{9BA15CD2-76D6-4EFE-91D9-7087332E3318}" type="slidenum">
              <a:rPr lang="en-IN" smtClean="0"/>
              <a:pPr/>
              <a:t>9</a:t>
            </a:fld>
            <a:endParaRPr lang="en-IN" dirty="0"/>
          </a:p>
        </p:txBody>
      </p:sp>
      <p:sp>
        <p:nvSpPr>
          <p:cNvPr id="2" name="Title 1">
            <a:extLst>
              <a:ext uri="{FF2B5EF4-FFF2-40B4-BE49-F238E27FC236}">
                <a16:creationId xmlns:a16="http://schemas.microsoft.com/office/drawing/2014/main" id="{91692CFF-BC9C-EEE3-9347-864A669B2996}"/>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Tools and Techniques Used</a:t>
            </a:r>
            <a:endParaRPr lang="en-US" sz="4000" dirty="0"/>
          </a:p>
        </p:txBody>
      </p:sp>
      <p:pic>
        <p:nvPicPr>
          <p:cNvPr id="7" name="Picture 6">
            <a:extLst>
              <a:ext uri="{FF2B5EF4-FFF2-40B4-BE49-F238E27FC236}">
                <a16:creationId xmlns:a16="http://schemas.microsoft.com/office/drawing/2014/main" id="{152BD9D0-011B-CC2A-791E-4EF2D81C58BB}"/>
              </a:ext>
            </a:extLst>
          </p:cNvPr>
          <p:cNvPicPr>
            <a:picLocks noChangeAspect="1"/>
          </p:cNvPicPr>
          <p:nvPr/>
        </p:nvPicPr>
        <p:blipFill>
          <a:blip r:embed="rId2"/>
          <a:stretch>
            <a:fillRect/>
          </a:stretch>
        </p:blipFill>
        <p:spPr>
          <a:xfrm>
            <a:off x="6582512" y="1676923"/>
            <a:ext cx="2495320" cy="3327093"/>
          </a:xfrm>
          <a:prstGeom prst="rect">
            <a:avLst/>
          </a:prstGeom>
        </p:spPr>
      </p:pic>
      <p:pic>
        <p:nvPicPr>
          <p:cNvPr id="9" name="Picture 8">
            <a:extLst>
              <a:ext uri="{FF2B5EF4-FFF2-40B4-BE49-F238E27FC236}">
                <a16:creationId xmlns:a16="http://schemas.microsoft.com/office/drawing/2014/main" id="{E779D254-06C1-F51F-D656-38E82559CD06}"/>
              </a:ext>
            </a:extLst>
          </p:cNvPr>
          <p:cNvPicPr>
            <a:picLocks noChangeAspect="1"/>
          </p:cNvPicPr>
          <p:nvPr/>
        </p:nvPicPr>
        <p:blipFill>
          <a:blip r:embed="rId3"/>
          <a:stretch>
            <a:fillRect/>
          </a:stretch>
        </p:blipFill>
        <p:spPr>
          <a:xfrm>
            <a:off x="9077832" y="1676923"/>
            <a:ext cx="2546044" cy="3394725"/>
          </a:xfrm>
          <a:prstGeom prst="rect">
            <a:avLst/>
          </a:prstGeom>
        </p:spPr>
      </p:pic>
    </p:spTree>
    <p:extLst>
      <p:ext uri="{BB962C8B-B14F-4D97-AF65-F5344CB8AC3E}">
        <p14:creationId xmlns:p14="http://schemas.microsoft.com/office/powerpoint/2010/main" val="2066830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4338-E9CB-7488-1C0A-0AAE5711FF7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4C31B83-124B-C81E-06CA-A8F716C4AEF9}"/>
              </a:ext>
            </a:extLst>
          </p:cNvPr>
          <p:cNvSpPr>
            <a:spLocks noGrp="1"/>
          </p:cNvSpPr>
          <p:nvPr>
            <p:ph idx="1"/>
          </p:nvPr>
        </p:nvSpPr>
        <p:spPr>
          <a:xfrm>
            <a:off x="174814" y="1258282"/>
            <a:ext cx="6931664" cy="4918680"/>
          </a:xfrm>
        </p:spPr>
        <p:txBody>
          <a:bodyPr>
            <a:normAutofit fontScale="92500" lnSpcReduction="10000"/>
          </a:bodyPr>
          <a:lstStyle/>
          <a:p>
            <a:r>
              <a:rPr lang="en-US" b="1" u="sng" dirty="0"/>
              <a:t>Rationale:</a:t>
            </a:r>
          </a:p>
          <a:p>
            <a:pPr marL="0" indent="0">
              <a:buNone/>
            </a:pPr>
            <a:r>
              <a:rPr lang="en-US" b="1" dirty="0"/>
              <a:t>We employed solution combustion method as:</a:t>
            </a:r>
          </a:p>
          <a:p>
            <a:pPr marL="514350" indent="-514350">
              <a:buFont typeface="+mj-lt"/>
              <a:buAutoNum type="arabicPeriod"/>
            </a:pPr>
            <a:r>
              <a:rPr lang="en-US" dirty="0">
                <a:latin typeface="Bahnschrift SemiBold" panose="020B0502040204020203" pitchFamily="34" charset="0"/>
              </a:rPr>
              <a:t>it provides highly porous nanomaterials </a:t>
            </a:r>
          </a:p>
          <a:p>
            <a:pPr marL="514350" indent="-514350">
              <a:buFont typeface="+mj-lt"/>
              <a:buAutoNum type="arabicPeriod"/>
            </a:pPr>
            <a:r>
              <a:rPr lang="en-US" dirty="0">
                <a:latin typeface="Bahnschrift SemiBold" panose="020B0502040204020203" pitchFamily="34" charset="0"/>
              </a:rPr>
              <a:t>Rapid reaction</a:t>
            </a:r>
          </a:p>
          <a:p>
            <a:pPr marL="514350" indent="-514350">
              <a:buFont typeface="+mj-lt"/>
              <a:buAutoNum type="arabicPeriod"/>
            </a:pPr>
            <a:r>
              <a:rPr lang="en-US" dirty="0">
                <a:latin typeface="Bahnschrift SemiBold" panose="020B0502040204020203" pitchFamily="34" charset="0"/>
              </a:rPr>
              <a:t>minimal energy expenditure</a:t>
            </a:r>
          </a:p>
          <a:p>
            <a:pPr marL="514350" indent="-514350">
              <a:buFont typeface="+mj-lt"/>
              <a:buAutoNum type="arabicPeriod"/>
            </a:pPr>
            <a:r>
              <a:rPr lang="en-US" dirty="0">
                <a:latin typeface="Bahnschrift SemiBold" panose="020B0502040204020203" pitchFamily="34" charset="0"/>
              </a:rPr>
              <a:t>Low cost</a:t>
            </a:r>
          </a:p>
          <a:p>
            <a:pPr marL="0" indent="0">
              <a:buNone/>
            </a:pPr>
            <a:r>
              <a:rPr lang="en-US" b="1" dirty="0"/>
              <a:t>We employed calcination to:</a:t>
            </a:r>
          </a:p>
          <a:p>
            <a:pPr marL="514350" indent="-514350">
              <a:buFont typeface="+mj-lt"/>
              <a:buAutoNum type="arabicPeriod"/>
            </a:pPr>
            <a:r>
              <a:rPr lang="en-US" dirty="0">
                <a:latin typeface="Bahnschrift SemiBold" panose="020B0502040204020203" pitchFamily="34" charset="0"/>
              </a:rPr>
              <a:t>Increase crystallinity of the compound</a:t>
            </a:r>
          </a:p>
          <a:p>
            <a:pPr marL="514350" indent="-514350">
              <a:buFont typeface="+mj-lt"/>
              <a:buAutoNum type="arabicPeriod"/>
            </a:pPr>
            <a:r>
              <a:rPr lang="en-US" dirty="0">
                <a:latin typeface="Bahnschrift SemiBold" panose="020B0502040204020203" pitchFamily="34" charset="0"/>
              </a:rPr>
              <a:t>Remove impurities</a:t>
            </a:r>
          </a:p>
          <a:p>
            <a:pPr marL="514350" indent="-514350">
              <a:buFont typeface="+mj-lt"/>
              <a:buAutoNum type="arabicPeriod"/>
            </a:pPr>
            <a:r>
              <a:rPr lang="en-US" dirty="0">
                <a:latin typeface="Bahnschrift SemiBold" panose="020B0502040204020203" pitchFamily="34" charset="0"/>
              </a:rPr>
              <a:t>Increase number of dopant sites</a:t>
            </a:r>
          </a:p>
        </p:txBody>
      </p:sp>
      <p:sp>
        <p:nvSpPr>
          <p:cNvPr id="3" name="Date Placeholder 2">
            <a:extLst>
              <a:ext uri="{FF2B5EF4-FFF2-40B4-BE49-F238E27FC236}">
                <a16:creationId xmlns:a16="http://schemas.microsoft.com/office/drawing/2014/main" id="{92D88F83-3736-AC6E-5311-E2D9B9082ADC}"/>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13F34966-6F62-6008-A643-F65867ADD0F5}"/>
              </a:ext>
            </a:extLst>
          </p:cNvPr>
          <p:cNvSpPr>
            <a:spLocks noGrp="1"/>
          </p:cNvSpPr>
          <p:nvPr>
            <p:ph type="sldNum" sz="quarter" idx="12"/>
          </p:nvPr>
        </p:nvSpPr>
        <p:spPr/>
        <p:txBody>
          <a:bodyPr/>
          <a:lstStyle/>
          <a:p>
            <a:r>
              <a:rPr lang="en-IN" dirty="0"/>
              <a:t>Slide No. </a:t>
            </a:r>
            <a:fld id="{9BA15CD2-76D6-4EFE-91D9-7087332E3318}" type="slidenum">
              <a:rPr lang="en-IN" smtClean="0"/>
              <a:pPr/>
              <a:t>10</a:t>
            </a:fld>
            <a:endParaRPr lang="en-IN" dirty="0"/>
          </a:p>
        </p:txBody>
      </p:sp>
      <p:sp>
        <p:nvSpPr>
          <p:cNvPr id="2" name="Title 1">
            <a:extLst>
              <a:ext uri="{FF2B5EF4-FFF2-40B4-BE49-F238E27FC236}">
                <a16:creationId xmlns:a16="http://schemas.microsoft.com/office/drawing/2014/main" id="{E41A967C-90A0-9E1B-43ED-3EF8804E716F}"/>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Tools and Techniques Used</a:t>
            </a:r>
            <a:endParaRPr lang="en-US" sz="4000" dirty="0"/>
          </a:p>
        </p:txBody>
      </p:sp>
      <p:pic>
        <p:nvPicPr>
          <p:cNvPr id="8" name="Picture 7">
            <a:extLst>
              <a:ext uri="{FF2B5EF4-FFF2-40B4-BE49-F238E27FC236}">
                <a16:creationId xmlns:a16="http://schemas.microsoft.com/office/drawing/2014/main" id="{2E3AFC05-5434-783B-4C5B-D5A19FDFAF77}"/>
              </a:ext>
            </a:extLst>
          </p:cNvPr>
          <p:cNvPicPr>
            <a:picLocks noChangeAspect="1"/>
          </p:cNvPicPr>
          <p:nvPr/>
        </p:nvPicPr>
        <p:blipFill>
          <a:blip r:embed="rId2"/>
          <a:stretch>
            <a:fillRect/>
          </a:stretch>
        </p:blipFill>
        <p:spPr>
          <a:xfrm>
            <a:off x="9601201" y="1352818"/>
            <a:ext cx="2134223" cy="3794175"/>
          </a:xfrm>
          <a:prstGeom prst="rect">
            <a:avLst/>
          </a:prstGeom>
        </p:spPr>
      </p:pic>
      <p:pic>
        <p:nvPicPr>
          <p:cNvPr id="10" name="Picture 9">
            <a:extLst>
              <a:ext uri="{FF2B5EF4-FFF2-40B4-BE49-F238E27FC236}">
                <a16:creationId xmlns:a16="http://schemas.microsoft.com/office/drawing/2014/main" id="{0B386D66-71DC-43E3-95F2-3EE95F38C8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66977" y="1352818"/>
            <a:ext cx="2134224" cy="3794176"/>
          </a:xfrm>
          <a:prstGeom prst="rect">
            <a:avLst/>
          </a:prstGeom>
        </p:spPr>
      </p:pic>
    </p:spTree>
    <p:extLst>
      <p:ext uri="{BB962C8B-B14F-4D97-AF65-F5344CB8AC3E}">
        <p14:creationId xmlns:p14="http://schemas.microsoft.com/office/powerpoint/2010/main" val="3776649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54683-CA15-C329-E5F1-B976E04DED8A}"/>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9A4BD93-F68B-D687-187C-B4A1C01EF0AF}"/>
              </a:ext>
            </a:extLst>
          </p:cNvPr>
          <p:cNvSpPr>
            <a:spLocks noGrp="1"/>
          </p:cNvSpPr>
          <p:nvPr>
            <p:ph idx="1"/>
          </p:nvPr>
        </p:nvSpPr>
        <p:spPr/>
        <p:txBody>
          <a:bodyPr/>
          <a:lstStyle/>
          <a:p>
            <a:pPr marL="0" indent="0">
              <a:buNone/>
            </a:pPr>
            <a:r>
              <a:rPr lang="en-US" b="1" dirty="0"/>
              <a:t>Current status:</a:t>
            </a:r>
          </a:p>
          <a:p>
            <a:r>
              <a:rPr lang="en-US" dirty="0">
                <a:latin typeface="Bahnschrift SemiBold" panose="020B0502040204020203" pitchFamily="34" charset="0"/>
              </a:rPr>
              <a:t>The stoichiometric calculations were done</a:t>
            </a:r>
          </a:p>
          <a:p>
            <a:r>
              <a:rPr lang="en-US" dirty="0">
                <a:latin typeface="Bahnschrift SemiBold" panose="020B0502040204020203" pitchFamily="34" charset="0"/>
              </a:rPr>
              <a:t>Solid State Electrolyte was synthesized</a:t>
            </a:r>
          </a:p>
          <a:p>
            <a:r>
              <a:rPr lang="en-US" dirty="0">
                <a:latin typeface="Bahnschrift SemiBold" panose="020B0502040204020203" pitchFamily="34" charset="0"/>
              </a:rPr>
              <a:t>XRD was plotted</a:t>
            </a:r>
          </a:p>
          <a:p>
            <a:r>
              <a:rPr lang="en-US" dirty="0">
                <a:latin typeface="Bahnschrift SemiBold" panose="020B0502040204020203" pitchFamily="34" charset="0"/>
              </a:rPr>
              <a:t>Calcination was performed</a:t>
            </a:r>
          </a:p>
          <a:p>
            <a:r>
              <a:rPr lang="en-US" dirty="0">
                <a:latin typeface="Bahnschrift SemiBold" panose="020B0502040204020203" pitchFamily="34" charset="0"/>
              </a:rPr>
              <a:t>XRD of calcinated compound was plotted</a:t>
            </a:r>
          </a:p>
          <a:p>
            <a:r>
              <a:rPr lang="en-US" dirty="0">
                <a:latin typeface="Bahnschrift SemiBold" panose="020B0502040204020203" pitchFamily="34" charset="0"/>
              </a:rPr>
              <a:t>Peak matching was performed</a:t>
            </a:r>
          </a:p>
          <a:p>
            <a:r>
              <a:rPr lang="en-US" dirty="0">
                <a:latin typeface="Bahnschrift SemiBold" panose="020B0502040204020203" pitchFamily="34" charset="0"/>
              </a:rPr>
              <a:t>Miller indices of the peaks were obtained</a:t>
            </a:r>
            <a:endParaRPr lang="en-IN" dirty="0">
              <a:latin typeface="Bahnschrift SemiBold" panose="020B0502040204020203" pitchFamily="34" charset="0"/>
            </a:endParaRPr>
          </a:p>
        </p:txBody>
      </p:sp>
      <p:sp>
        <p:nvSpPr>
          <p:cNvPr id="3" name="Date Placeholder 2">
            <a:extLst>
              <a:ext uri="{FF2B5EF4-FFF2-40B4-BE49-F238E27FC236}">
                <a16:creationId xmlns:a16="http://schemas.microsoft.com/office/drawing/2014/main" id="{0C76DC08-43FE-7DEA-1C30-84B372EFAD0D}"/>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F8A1C60C-C444-A31A-CAF8-6EE4A8EB64B0}"/>
              </a:ext>
            </a:extLst>
          </p:cNvPr>
          <p:cNvSpPr>
            <a:spLocks noGrp="1"/>
          </p:cNvSpPr>
          <p:nvPr>
            <p:ph type="sldNum" sz="quarter" idx="12"/>
          </p:nvPr>
        </p:nvSpPr>
        <p:spPr/>
        <p:txBody>
          <a:bodyPr/>
          <a:lstStyle/>
          <a:p>
            <a:r>
              <a:rPr lang="en-IN" dirty="0"/>
              <a:t>Slide No. </a:t>
            </a:r>
            <a:fld id="{9BA15CD2-76D6-4EFE-91D9-7087332E3318}" type="slidenum">
              <a:rPr lang="en-IN" smtClean="0"/>
              <a:pPr/>
              <a:t>11</a:t>
            </a:fld>
            <a:endParaRPr lang="en-IN" dirty="0"/>
          </a:p>
        </p:txBody>
      </p:sp>
      <p:sp>
        <p:nvSpPr>
          <p:cNvPr id="2" name="Title 1">
            <a:extLst>
              <a:ext uri="{FF2B5EF4-FFF2-40B4-BE49-F238E27FC236}">
                <a16:creationId xmlns:a16="http://schemas.microsoft.com/office/drawing/2014/main" id="{66D7BE0B-0460-317B-C537-4BF5E3F1B63B}"/>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Project Progress</a:t>
            </a:r>
            <a:endParaRPr lang="en-US" sz="4000" dirty="0"/>
          </a:p>
        </p:txBody>
      </p:sp>
    </p:spTree>
    <p:extLst>
      <p:ext uri="{BB962C8B-B14F-4D97-AF65-F5344CB8AC3E}">
        <p14:creationId xmlns:p14="http://schemas.microsoft.com/office/powerpoint/2010/main" val="3565106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CA273-E7A0-BEED-5573-C51E332D443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FD0D7E2-1BF2-EC9E-ACC8-A3F89860F03F}"/>
              </a:ext>
            </a:extLst>
          </p:cNvPr>
          <p:cNvSpPr>
            <a:spLocks noGrp="1"/>
          </p:cNvSpPr>
          <p:nvPr>
            <p:ph idx="1"/>
          </p:nvPr>
        </p:nvSpPr>
        <p:spPr>
          <a:xfrm>
            <a:off x="174812" y="1611087"/>
            <a:ext cx="11842377" cy="4918680"/>
          </a:xfrm>
        </p:spPr>
        <p:txBody>
          <a:bodyPr/>
          <a:lstStyle/>
          <a:p>
            <a:pPr marL="0" indent="0">
              <a:buNone/>
            </a:pPr>
            <a:r>
              <a:rPr lang="en-US" b="1" dirty="0"/>
              <a:t>Milestones:</a:t>
            </a:r>
          </a:p>
          <a:p>
            <a:r>
              <a:rPr lang="en-US" dirty="0">
                <a:latin typeface="Bahnschrift SemiBold" panose="020B0502040204020203" pitchFamily="34" charset="0"/>
              </a:rPr>
              <a:t>XRD peaks were found to match 2 compounds </a:t>
            </a:r>
          </a:p>
          <a:p>
            <a:pPr marL="514350" indent="-514350">
              <a:buFont typeface="+mj-lt"/>
              <a:buAutoNum type="arabicPeriod"/>
            </a:pPr>
            <a:r>
              <a:rPr lang="en-US" dirty="0">
                <a:latin typeface="Bahnschrift SemiBold" panose="020B0502040204020203" pitchFamily="34" charset="0"/>
              </a:rPr>
              <a:t>LiAlSiO4</a:t>
            </a:r>
          </a:p>
          <a:p>
            <a:pPr marL="514350" indent="-514350">
              <a:buFont typeface="+mj-lt"/>
              <a:buAutoNum type="arabicPeriod"/>
            </a:pPr>
            <a:r>
              <a:rPr lang="en-US" dirty="0">
                <a:latin typeface="Bahnschrift SemiBold" panose="020B0502040204020203" pitchFamily="34" charset="0"/>
              </a:rPr>
              <a:t>LiAlSi2O6</a:t>
            </a:r>
          </a:p>
          <a:p>
            <a:r>
              <a:rPr lang="en-US" dirty="0">
                <a:latin typeface="Bahnschrift SemiBold" panose="020B0502040204020203" pitchFamily="34" charset="0"/>
              </a:rPr>
              <a:t>Calcination provided increase in narrowness of peaks indicating increase in crystallinity </a:t>
            </a:r>
          </a:p>
        </p:txBody>
      </p:sp>
      <p:sp>
        <p:nvSpPr>
          <p:cNvPr id="3" name="Date Placeholder 2">
            <a:extLst>
              <a:ext uri="{FF2B5EF4-FFF2-40B4-BE49-F238E27FC236}">
                <a16:creationId xmlns:a16="http://schemas.microsoft.com/office/drawing/2014/main" id="{F6687EC1-3245-40C3-BDE2-6103A82CCBCE}"/>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92AD53ED-4F7D-3168-11E6-A7F8E48BAB4C}"/>
              </a:ext>
            </a:extLst>
          </p:cNvPr>
          <p:cNvSpPr>
            <a:spLocks noGrp="1"/>
          </p:cNvSpPr>
          <p:nvPr>
            <p:ph type="sldNum" sz="quarter" idx="12"/>
          </p:nvPr>
        </p:nvSpPr>
        <p:spPr/>
        <p:txBody>
          <a:bodyPr/>
          <a:lstStyle/>
          <a:p>
            <a:r>
              <a:rPr lang="en-IN" dirty="0"/>
              <a:t>Slide No. </a:t>
            </a:r>
            <a:fld id="{9BA15CD2-76D6-4EFE-91D9-7087332E3318}" type="slidenum">
              <a:rPr lang="en-IN" smtClean="0"/>
              <a:pPr/>
              <a:t>12</a:t>
            </a:fld>
            <a:endParaRPr lang="en-IN" dirty="0"/>
          </a:p>
        </p:txBody>
      </p:sp>
      <p:sp>
        <p:nvSpPr>
          <p:cNvPr id="2" name="Title 1">
            <a:extLst>
              <a:ext uri="{FF2B5EF4-FFF2-40B4-BE49-F238E27FC236}">
                <a16:creationId xmlns:a16="http://schemas.microsoft.com/office/drawing/2014/main" id="{9532588A-A3F9-4159-B2B3-AA052CC1C303}"/>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Project Progress</a:t>
            </a:r>
            <a:endParaRPr lang="en-US" sz="4000" dirty="0"/>
          </a:p>
        </p:txBody>
      </p:sp>
    </p:spTree>
    <p:extLst>
      <p:ext uri="{BB962C8B-B14F-4D97-AF65-F5344CB8AC3E}">
        <p14:creationId xmlns:p14="http://schemas.microsoft.com/office/powerpoint/2010/main" val="763605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E97CC-A998-3A30-0B0D-2D740A03223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B1B18FA-0B2E-0E90-A4AD-E2FCAAEDDD61}"/>
              </a:ext>
            </a:extLst>
          </p:cNvPr>
          <p:cNvSpPr>
            <a:spLocks noGrp="1"/>
          </p:cNvSpPr>
          <p:nvPr>
            <p:ph idx="1"/>
          </p:nvPr>
        </p:nvSpPr>
        <p:spPr>
          <a:xfrm>
            <a:off x="174812" y="1134009"/>
            <a:ext cx="12017188" cy="5213196"/>
          </a:xfrm>
        </p:spPr>
        <p:txBody>
          <a:bodyPr/>
          <a:lstStyle/>
          <a:p>
            <a:pPr marL="0" indent="0">
              <a:buNone/>
            </a:pPr>
            <a:r>
              <a:rPr lang="en-US" b="1" dirty="0"/>
              <a:t>Challenged Faces:</a:t>
            </a:r>
          </a:p>
          <a:p>
            <a:pPr marL="0" indent="0">
              <a:buNone/>
            </a:pPr>
            <a:r>
              <a:rPr lang="en-US" dirty="0">
                <a:latin typeface="Bahnschrift SemiBold" panose="020B0502040204020203" pitchFamily="34" charset="0"/>
              </a:rPr>
              <a:t>The synthesized compound was found to have impurities and slight phase difference was observed in the XRD</a:t>
            </a:r>
          </a:p>
          <a:p>
            <a:pPr marL="0" indent="0">
              <a:buNone/>
            </a:pPr>
            <a:r>
              <a:rPr lang="en-US" sz="1200" dirty="0"/>
              <a:t>                                              </a:t>
            </a:r>
            <a:r>
              <a:rPr lang="en-US" sz="2400" b="1" dirty="0"/>
              <a:t> </a:t>
            </a:r>
            <a:r>
              <a:rPr lang="en-US" sz="1200" dirty="0"/>
              <a:t>                                                                                         </a:t>
            </a:r>
            <a:r>
              <a:rPr lang="en-US" sz="2400" b="1" dirty="0"/>
              <a:t> </a:t>
            </a:r>
          </a:p>
          <a:p>
            <a:pPr marL="0" indent="0">
              <a:buNone/>
            </a:pPr>
            <a:endParaRPr lang="en-US" sz="1200" dirty="0"/>
          </a:p>
          <a:p>
            <a:pPr marL="0" indent="0">
              <a:buNone/>
            </a:pPr>
            <a:endParaRPr lang="en-US" dirty="0"/>
          </a:p>
        </p:txBody>
      </p:sp>
      <p:sp>
        <p:nvSpPr>
          <p:cNvPr id="3" name="Date Placeholder 2">
            <a:extLst>
              <a:ext uri="{FF2B5EF4-FFF2-40B4-BE49-F238E27FC236}">
                <a16:creationId xmlns:a16="http://schemas.microsoft.com/office/drawing/2014/main" id="{FCE20D26-E3CA-918C-1DE1-562533145391}"/>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A15161CA-BC9F-6530-35FD-FB8D2B03A0D3}"/>
              </a:ext>
            </a:extLst>
          </p:cNvPr>
          <p:cNvSpPr>
            <a:spLocks noGrp="1"/>
          </p:cNvSpPr>
          <p:nvPr>
            <p:ph type="sldNum" sz="quarter" idx="12"/>
          </p:nvPr>
        </p:nvSpPr>
        <p:spPr/>
        <p:txBody>
          <a:bodyPr/>
          <a:lstStyle/>
          <a:p>
            <a:r>
              <a:rPr lang="en-IN" dirty="0"/>
              <a:t>Slide No. </a:t>
            </a:r>
            <a:fld id="{9BA15CD2-76D6-4EFE-91D9-7087332E3318}" type="slidenum">
              <a:rPr lang="en-IN" smtClean="0"/>
              <a:pPr/>
              <a:t>13</a:t>
            </a:fld>
            <a:endParaRPr lang="en-IN" dirty="0"/>
          </a:p>
        </p:txBody>
      </p:sp>
      <p:sp>
        <p:nvSpPr>
          <p:cNvPr id="2" name="Title 1">
            <a:extLst>
              <a:ext uri="{FF2B5EF4-FFF2-40B4-BE49-F238E27FC236}">
                <a16:creationId xmlns:a16="http://schemas.microsoft.com/office/drawing/2014/main" id="{9127C7DD-ACFA-D24F-0482-8369C964B4D0}"/>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Project Progress</a:t>
            </a:r>
            <a:endParaRPr lang="en-US" sz="4000" dirty="0"/>
          </a:p>
        </p:txBody>
      </p:sp>
    </p:spTree>
    <p:extLst>
      <p:ext uri="{BB962C8B-B14F-4D97-AF65-F5344CB8AC3E}">
        <p14:creationId xmlns:p14="http://schemas.microsoft.com/office/powerpoint/2010/main" val="729411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E97CC-A998-3A30-0B0D-2D740A03223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B1B18FA-0B2E-0E90-A4AD-E2FCAAEDDD61}"/>
              </a:ext>
            </a:extLst>
          </p:cNvPr>
          <p:cNvSpPr>
            <a:spLocks noGrp="1"/>
          </p:cNvSpPr>
          <p:nvPr>
            <p:ph idx="1"/>
          </p:nvPr>
        </p:nvSpPr>
        <p:spPr>
          <a:xfrm>
            <a:off x="174812" y="1134009"/>
            <a:ext cx="12017188" cy="5213196"/>
          </a:xfrm>
        </p:spPr>
        <p:txBody>
          <a:bodyPr/>
          <a:lstStyle/>
          <a:p>
            <a:pPr marL="0" indent="0">
              <a:buNone/>
            </a:pPr>
            <a:r>
              <a:rPr lang="en-US" b="1" dirty="0"/>
              <a:t> </a:t>
            </a:r>
            <a:endParaRPr lang="en-US" dirty="0">
              <a:latin typeface="Bahnschrift SemiBold" panose="020B0502040204020203" pitchFamily="34" charset="0"/>
            </a:endParaRPr>
          </a:p>
          <a:p>
            <a:pPr marL="0" indent="0">
              <a:buNone/>
            </a:pPr>
            <a:r>
              <a:rPr lang="en-US" sz="1200" dirty="0"/>
              <a:t>                                              </a:t>
            </a:r>
            <a:r>
              <a:rPr lang="en-US" sz="2400" b="1" dirty="0"/>
              <a:t>LiAlSiO4</a:t>
            </a:r>
            <a:r>
              <a:rPr lang="en-US" sz="1200" dirty="0"/>
              <a:t>                                                                                           </a:t>
            </a:r>
            <a:r>
              <a:rPr lang="en-US" sz="2400" b="1" dirty="0"/>
              <a:t>LiAlSi2O6</a:t>
            </a:r>
          </a:p>
          <a:p>
            <a:pPr marL="0" indent="0">
              <a:buNone/>
            </a:pPr>
            <a:endParaRPr lang="en-US" sz="1200" dirty="0"/>
          </a:p>
          <a:p>
            <a:pPr marL="0" indent="0">
              <a:buNone/>
            </a:pPr>
            <a:endParaRPr lang="en-US" dirty="0"/>
          </a:p>
        </p:txBody>
      </p:sp>
      <p:sp>
        <p:nvSpPr>
          <p:cNvPr id="3" name="Date Placeholder 2">
            <a:extLst>
              <a:ext uri="{FF2B5EF4-FFF2-40B4-BE49-F238E27FC236}">
                <a16:creationId xmlns:a16="http://schemas.microsoft.com/office/drawing/2014/main" id="{FCE20D26-E3CA-918C-1DE1-562533145391}"/>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A15161CA-BC9F-6530-35FD-FB8D2B03A0D3}"/>
              </a:ext>
            </a:extLst>
          </p:cNvPr>
          <p:cNvSpPr>
            <a:spLocks noGrp="1"/>
          </p:cNvSpPr>
          <p:nvPr>
            <p:ph type="sldNum" sz="quarter" idx="12"/>
          </p:nvPr>
        </p:nvSpPr>
        <p:spPr/>
        <p:txBody>
          <a:bodyPr/>
          <a:lstStyle/>
          <a:p>
            <a:r>
              <a:rPr lang="en-IN" dirty="0"/>
              <a:t>Slide No. </a:t>
            </a:r>
            <a:fld id="{9BA15CD2-76D6-4EFE-91D9-7087332E3318}" type="slidenum">
              <a:rPr lang="en-IN" smtClean="0"/>
              <a:pPr/>
              <a:t>14</a:t>
            </a:fld>
            <a:endParaRPr lang="en-IN" dirty="0"/>
          </a:p>
        </p:txBody>
      </p:sp>
      <p:sp>
        <p:nvSpPr>
          <p:cNvPr id="2" name="Title 1">
            <a:extLst>
              <a:ext uri="{FF2B5EF4-FFF2-40B4-BE49-F238E27FC236}">
                <a16:creationId xmlns:a16="http://schemas.microsoft.com/office/drawing/2014/main" id="{9127C7DD-ACFA-D24F-0482-8369C964B4D0}"/>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Project Progress</a:t>
            </a:r>
            <a:endParaRPr lang="en-US" sz="4000" dirty="0"/>
          </a:p>
        </p:txBody>
      </p:sp>
      <p:pic>
        <p:nvPicPr>
          <p:cNvPr id="8" name="Picture 7">
            <a:extLst>
              <a:ext uri="{FF2B5EF4-FFF2-40B4-BE49-F238E27FC236}">
                <a16:creationId xmlns:a16="http://schemas.microsoft.com/office/drawing/2014/main" id="{8F806F00-402C-3E67-5477-CD8B15525C5F}"/>
              </a:ext>
            </a:extLst>
          </p:cNvPr>
          <p:cNvPicPr>
            <a:picLocks noChangeAspect="1"/>
          </p:cNvPicPr>
          <p:nvPr/>
        </p:nvPicPr>
        <p:blipFill>
          <a:blip r:embed="rId2"/>
          <a:stretch>
            <a:fillRect/>
          </a:stretch>
        </p:blipFill>
        <p:spPr>
          <a:xfrm>
            <a:off x="1244009" y="985071"/>
            <a:ext cx="10136827" cy="5065541"/>
          </a:xfrm>
          <a:prstGeom prst="rect">
            <a:avLst/>
          </a:prstGeom>
        </p:spPr>
      </p:pic>
      <p:sp>
        <p:nvSpPr>
          <p:cNvPr id="7" name="TextBox 6">
            <a:extLst>
              <a:ext uri="{FF2B5EF4-FFF2-40B4-BE49-F238E27FC236}">
                <a16:creationId xmlns:a16="http://schemas.microsoft.com/office/drawing/2014/main" id="{B02F2284-4C08-45CB-8E63-5A3E9432E24E}"/>
              </a:ext>
            </a:extLst>
          </p:cNvPr>
          <p:cNvSpPr txBox="1"/>
          <p:nvPr/>
        </p:nvSpPr>
        <p:spPr>
          <a:xfrm>
            <a:off x="7729870" y="2190307"/>
            <a:ext cx="1582484" cy="461665"/>
          </a:xfrm>
          <a:prstGeom prst="rect">
            <a:avLst/>
          </a:prstGeom>
          <a:noFill/>
        </p:spPr>
        <p:txBody>
          <a:bodyPr wrap="none" rtlCol="0">
            <a:spAutoFit/>
          </a:bodyPr>
          <a:lstStyle/>
          <a:p>
            <a:r>
              <a:rPr lang="en-US" sz="2400" b="1" dirty="0">
                <a:solidFill>
                  <a:srgbClr val="002060"/>
                </a:solidFill>
                <a:latin typeface="Bookman Old Style" panose="02050604050505020204" pitchFamily="18" charset="0"/>
              </a:rPr>
              <a:t>LiAlSiO4</a:t>
            </a:r>
            <a:endParaRPr lang="en-US" sz="2400" dirty="0">
              <a:solidFill>
                <a:srgbClr val="002060"/>
              </a:solidFill>
              <a:latin typeface="Bookman Old Style" panose="02050604050505020204" pitchFamily="18" charset="0"/>
            </a:endParaRPr>
          </a:p>
        </p:txBody>
      </p:sp>
    </p:spTree>
    <p:extLst>
      <p:ext uri="{BB962C8B-B14F-4D97-AF65-F5344CB8AC3E}">
        <p14:creationId xmlns:p14="http://schemas.microsoft.com/office/powerpoint/2010/main" val="1356482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E97CC-A998-3A30-0B0D-2D740A03223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B1B18FA-0B2E-0E90-A4AD-E2FCAAEDDD61}"/>
              </a:ext>
            </a:extLst>
          </p:cNvPr>
          <p:cNvSpPr>
            <a:spLocks noGrp="1"/>
          </p:cNvSpPr>
          <p:nvPr>
            <p:ph idx="1"/>
          </p:nvPr>
        </p:nvSpPr>
        <p:spPr>
          <a:xfrm>
            <a:off x="174812" y="1134009"/>
            <a:ext cx="12017188" cy="5213196"/>
          </a:xfrm>
        </p:spPr>
        <p:txBody>
          <a:bodyPr/>
          <a:lstStyle/>
          <a:p>
            <a:pPr marL="0" indent="0">
              <a:buNone/>
            </a:pPr>
            <a:r>
              <a:rPr lang="en-US" b="1" dirty="0"/>
              <a:t> </a:t>
            </a:r>
            <a:endParaRPr lang="en-US" dirty="0">
              <a:latin typeface="Bahnschrift SemiBold" panose="020B0502040204020203" pitchFamily="34" charset="0"/>
            </a:endParaRPr>
          </a:p>
          <a:p>
            <a:pPr marL="0" indent="0">
              <a:buNone/>
            </a:pPr>
            <a:r>
              <a:rPr lang="en-US" sz="1200" dirty="0"/>
              <a:t>                                              </a:t>
            </a:r>
            <a:r>
              <a:rPr lang="en-US" sz="2400" b="1" dirty="0"/>
              <a:t>LiAlSiO4</a:t>
            </a:r>
            <a:r>
              <a:rPr lang="en-US" sz="1200" dirty="0"/>
              <a:t>                                                                                           </a:t>
            </a:r>
            <a:r>
              <a:rPr lang="en-US" sz="2400" b="1" dirty="0"/>
              <a:t>LiAlSi2O6</a:t>
            </a:r>
          </a:p>
          <a:p>
            <a:pPr marL="0" indent="0">
              <a:buNone/>
            </a:pPr>
            <a:endParaRPr lang="en-US" sz="1200" dirty="0"/>
          </a:p>
          <a:p>
            <a:pPr marL="0" indent="0">
              <a:buNone/>
            </a:pPr>
            <a:endParaRPr lang="en-US" dirty="0"/>
          </a:p>
        </p:txBody>
      </p:sp>
      <p:sp>
        <p:nvSpPr>
          <p:cNvPr id="3" name="Date Placeholder 2">
            <a:extLst>
              <a:ext uri="{FF2B5EF4-FFF2-40B4-BE49-F238E27FC236}">
                <a16:creationId xmlns:a16="http://schemas.microsoft.com/office/drawing/2014/main" id="{FCE20D26-E3CA-918C-1DE1-562533145391}"/>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A15161CA-BC9F-6530-35FD-FB8D2B03A0D3}"/>
              </a:ext>
            </a:extLst>
          </p:cNvPr>
          <p:cNvSpPr>
            <a:spLocks noGrp="1"/>
          </p:cNvSpPr>
          <p:nvPr>
            <p:ph type="sldNum" sz="quarter" idx="12"/>
          </p:nvPr>
        </p:nvSpPr>
        <p:spPr/>
        <p:txBody>
          <a:bodyPr/>
          <a:lstStyle/>
          <a:p>
            <a:r>
              <a:rPr lang="en-IN" dirty="0"/>
              <a:t>Slide No. </a:t>
            </a:r>
            <a:fld id="{9BA15CD2-76D6-4EFE-91D9-7087332E3318}" type="slidenum">
              <a:rPr lang="en-IN" smtClean="0"/>
              <a:pPr/>
              <a:t>15</a:t>
            </a:fld>
            <a:endParaRPr lang="en-IN" dirty="0"/>
          </a:p>
        </p:txBody>
      </p:sp>
      <p:sp>
        <p:nvSpPr>
          <p:cNvPr id="2" name="Title 1">
            <a:extLst>
              <a:ext uri="{FF2B5EF4-FFF2-40B4-BE49-F238E27FC236}">
                <a16:creationId xmlns:a16="http://schemas.microsoft.com/office/drawing/2014/main" id="{9127C7DD-ACFA-D24F-0482-8369C964B4D0}"/>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Project Progress</a:t>
            </a:r>
            <a:endParaRPr lang="en-US" sz="4000" dirty="0"/>
          </a:p>
        </p:txBody>
      </p:sp>
      <p:sp>
        <p:nvSpPr>
          <p:cNvPr id="7" name="TextBox 6">
            <a:extLst>
              <a:ext uri="{FF2B5EF4-FFF2-40B4-BE49-F238E27FC236}">
                <a16:creationId xmlns:a16="http://schemas.microsoft.com/office/drawing/2014/main" id="{B02F2284-4C08-45CB-8E63-5A3E9432E24E}"/>
              </a:ext>
            </a:extLst>
          </p:cNvPr>
          <p:cNvSpPr txBox="1"/>
          <p:nvPr/>
        </p:nvSpPr>
        <p:spPr>
          <a:xfrm>
            <a:off x="7729870" y="2190307"/>
            <a:ext cx="1786066" cy="461665"/>
          </a:xfrm>
          <a:prstGeom prst="rect">
            <a:avLst/>
          </a:prstGeom>
          <a:noFill/>
        </p:spPr>
        <p:txBody>
          <a:bodyPr wrap="none" rtlCol="0">
            <a:spAutoFit/>
          </a:bodyPr>
          <a:lstStyle/>
          <a:p>
            <a:r>
              <a:rPr lang="en-US" sz="2400" b="1" dirty="0">
                <a:solidFill>
                  <a:srgbClr val="002060"/>
                </a:solidFill>
                <a:latin typeface="Bookman Old Style" panose="02050604050505020204" pitchFamily="18" charset="0"/>
              </a:rPr>
              <a:t>LiAlSi2O6</a:t>
            </a:r>
            <a:endParaRPr lang="en-US" sz="2400" dirty="0">
              <a:solidFill>
                <a:srgbClr val="002060"/>
              </a:solidFill>
              <a:latin typeface="Bookman Old Style" panose="02050604050505020204" pitchFamily="18" charset="0"/>
            </a:endParaRPr>
          </a:p>
        </p:txBody>
      </p:sp>
      <p:pic>
        <p:nvPicPr>
          <p:cNvPr id="9" name="Picture 8">
            <a:extLst>
              <a:ext uri="{FF2B5EF4-FFF2-40B4-BE49-F238E27FC236}">
                <a16:creationId xmlns:a16="http://schemas.microsoft.com/office/drawing/2014/main" id="{92957B06-0D85-4124-9E11-180B340D0B98}"/>
              </a:ext>
            </a:extLst>
          </p:cNvPr>
          <p:cNvPicPr>
            <a:picLocks noChangeAspect="1"/>
          </p:cNvPicPr>
          <p:nvPr/>
        </p:nvPicPr>
        <p:blipFill>
          <a:blip r:embed="rId2"/>
          <a:stretch>
            <a:fillRect/>
          </a:stretch>
        </p:blipFill>
        <p:spPr>
          <a:xfrm>
            <a:off x="1166258" y="985071"/>
            <a:ext cx="10275699" cy="5213196"/>
          </a:xfrm>
          <a:prstGeom prst="rect">
            <a:avLst/>
          </a:prstGeom>
        </p:spPr>
      </p:pic>
      <p:sp>
        <p:nvSpPr>
          <p:cNvPr id="10" name="TextBox 9">
            <a:extLst>
              <a:ext uri="{FF2B5EF4-FFF2-40B4-BE49-F238E27FC236}">
                <a16:creationId xmlns:a16="http://schemas.microsoft.com/office/drawing/2014/main" id="{F305260A-0332-442C-8138-EFB75B377F5D}"/>
              </a:ext>
            </a:extLst>
          </p:cNvPr>
          <p:cNvSpPr txBox="1"/>
          <p:nvPr/>
        </p:nvSpPr>
        <p:spPr>
          <a:xfrm>
            <a:off x="7921256" y="2296553"/>
            <a:ext cx="1786066" cy="461665"/>
          </a:xfrm>
          <a:prstGeom prst="rect">
            <a:avLst/>
          </a:prstGeom>
          <a:noFill/>
        </p:spPr>
        <p:txBody>
          <a:bodyPr wrap="none" rtlCol="0">
            <a:spAutoFit/>
          </a:bodyPr>
          <a:lstStyle/>
          <a:p>
            <a:r>
              <a:rPr lang="en-US" sz="2400" b="1" dirty="0">
                <a:solidFill>
                  <a:srgbClr val="002060"/>
                </a:solidFill>
                <a:latin typeface="Bookman Old Style" panose="02050604050505020204" pitchFamily="18" charset="0"/>
              </a:rPr>
              <a:t>LiAlSi2O6</a:t>
            </a:r>
            <a:endParaRPr lang="en-US" sz="2400" dirty="0">
              <a:solidFill>
                <a:srgbClr val="002060"/>
              </a:solidFill>
              <a:latin typeface="Bookman Old Style" panose="02050604050505020204" pitchFamily="18" charset="0"/>
            </a:endParaRPr>
          </a:p>
        </p:txBody>
      </p:sp>
    </p:spTree>
    <p:extLst>
      <p:ext uri="{BB962C8B-B14F-4D97-AF65-F5344CB8AC3E}">
        <p14:creationId xmlns:p14="http://schemas.microsoft.com/office/powerpoint/2010/main" val="4202846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17628-102B-93DA-3BD2-255D38BC6199}"/>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F3D083B6-107B-307A-049A-C896A59D2CC6}"/>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6320CE7D-80ED-C3CF-FA05-20610BCCC0FF}"/>
              </a:ext>
            </a:extLst>
          </p:cNvPr>
          <p:cNvSpPr>
            <a:spLocks noGrp="1"/>
          </p:cNvSpPr>
          <p:nvPr>
            <p:ph type="sldNum" sz="quarter" idx="12"/>
          </p:nvPr>
        </p:nvSpPr>
        <p:spPr/>
        <p:txBody>
          <a:bodyPr/>
          <a:lstStyle/>
          <a:p>
            <a:r>
              <a:rPr lang="en-IN" dirty="0"/>
              <a:t>Slide No. </a:t>
            </a:r>
            <a:fld id="{9BA15CD2-76D6-4EFE-91D9-7087332E3318}" type="slidenum">
              <a:rPr lang="en-IN" smtClean="0"/>
              <a:pPr/>
              <a:t>16</a:t>
            </a:fld>
            <a:endParaRPr lang="en-IN" dirty="0"/>
          </a:p>
        </p:txBody>
      </p:sp>
      <p:sp>
        <p:nvSpPr>
          <p:cNvPr id="2" name="Title 1">
            <a:extLst>
              <a:ext uri="{FF2B5EF4-FFF2-40B4-BE49-F238E27FC236}">
                <a16:creationId xmlns:a16="http://schemas.microsoft.com/office/drawing/2014/main" id="{9B302BF9-55B9-4383-05BC-5189E61C97F4}"/>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Analysis of Partial Results</a:t>
            </a:r>
            <a:endParaRPr lang="en-US" sz="4000" dirty="0"/>
          </a:p>
        </p:txBody>
      </p:sp>
      <p:pic>
        <p:nvPicPr>
          <p:cNvPr id="12" name="Content Placeholder 11">
            <a:extLst>
              <a:ext uri="{FF2B5EF4-FFF2-40B4-BE49-F238E27FC236}">
                <a16:creationId xmlns:a16="http://schemas.microsoft.com/office/drawing/2014/main" id="{1E6D267A-91D1-DD35-366E-0F82B2313928}"/>
              </a:ext>
            </a:extLst>
          </p:cNvPr>
          <p:cNvPicPr>
            <a:picLocks noGrp="1" noChangeAspect="1"/>
          </p:cNvPicPr>
          <p:nvPr>
            <p:ph idx="1"/>
          </p:nvPr>
        </p:nvPicPr>
        <p:blipFill>
          <a:blip r:embed="rId2"/>
          <a:stretch>
            <a:fillRect/>
          </a:stretch>
        </p:blipFill>
        <p:spPr>
          <a:xfrm>
            <a:off x="812820" y="1229134"/>
            <a:ext cx="2245984" cy="3992861"/>
          </a:xfrm>
          <a:prstGeom prst="rect">
            <a:avLst/>
          </a:prstGeom>
        </p:spPr>
      </p:pic>
      <p:pic>
        <p:nvPicPr>
          <p:cNvPr id="13" name="Picture 12">
            <a:extLst>
              <a:ext uri="{FF2B5EF4-FFF2-40B4-BE49-F238E27FC236}">
                <a16:creationId xmlns:a16="http://schemas.microsoft.com/office/drawing/2014/main" id="{867FED60-51F6-745E-515A-141D73E1CA86}"/>
              </a:ext>
            </a:extLst>
          </p:cNvPr>
          <p:cNvPicPr>
            <a:picLocks noChangeAspect="1"/>
          </p:cNvPicPr>
          <p:nvPr/>
        </p:nvPicPr>
        <p:blipFill>
          <a:blip r:embed="rId3"/>
          <a:stretch>
            <a:fillRect/>
          </a:stretch>
        </p:blipFill>
        <p:spPr>
          <a:xfrm>
            <a:off x="4328481" y="1186376"/>
            <a:ext cx="3102511" cy="4136681"/>
          </a:xfrm>
          <a:prstGeom prst="rect">
            <a:avLst/>
          </a:prstGeom>
        </p:spPr>
      </p:pic>
      <p:pic>
        <p:nvPicPr>
          <p:cNvPr id="14" name="Picture 13">
            <a:extLst>
              <a:ext uri="{FF2B5EF4-FFF2-40B4-BE49-F238E27FC236}">
                <a16:creationId xmlns:a16="http://schemas.microsoft.com/office/drawing/2014/main" id="{9A868718-5131-8BDE-C139-C7F1459E60C1}"/>
              </a:ext>
            </a:extLst>
          </p:cNvPr>
          <p:cNvPicPr>
            <a:picLocks noChangeAspect="1"/>
          </p:cNvPicPr>
          <p:nvPr/>
        </p:nvPicPr>
        <p:blipFill>
          <a:blip r:embed="rId4"/>
          <a:stretch>
            <a:fillRect/>
          </a:stretch>
        </p:blipFill>
        <p:spPr>
          <a:xfrm>
            <a:off x="8415283" y="1231888"/>
            <a:ext cx="3070443" cy="4093923"/>
          </a:xfrm>
          <a:prstGeom prst="rect">
            <a:avLst/>
          </a:prstGeom>
        </p:spPr>
      </p:pic>
    </p:spTree>
    <p:extLst>
      <p:ext uri="{BB962C8B-B14F-4D97-AF65-F5344CB8AC3E}">
        <p14:creationId xmlns:p14="http://schemas.microsoft.com/office/powerpoint/2010/main" val="4145172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DA54-2CC8-C8B0-569B-4EE969C9662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A14D759-01DF-1E26-2719-6042F1F92E98}"/>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2DD57045-101E-8E94-8AC0-5661796B7385}"/>
              </a:ext>
            </a:extLst>
          </p:cNvPr>
          <p:cNvSpPr>
            <a:spLocks noGrp="1"/>
          </p:cNvSpPr>
          <p:nvPr>
            <p:ph type="sldNum" sz="quarter" idx="12"/>
          </p:nvPr>
        </p:nvSpPr>
        <p:spPr/>
        <p:txBody>
          <a:bodyPr/>
          <a:lstStyle/>
          <a:p>
            <a:r>
              <a:rPr lang="en-IN" dirty="0"/>
              <a:t>Slide No. </a:t>
            </a:r>
            <a:fld id="{9BA15CD2-76D6-4EFE-91D9-7087332E3318}" type="slidenum">
              <a:rPr lang="en-IN" smtClean="0"/>
              <a:pPr/>
              <a:t>17</a:t>
            </a:fld>
            <a:endParaRPr lang="en-IN" dirty="0"/>
          </a:p>
        </p:txBody>
      </p:sp>
      <p:sp>
        <p:nvSpPr>
          <p:cNvPr id="2" name="Title 1">
            <a:extLst>
              <a:ext uri="{FF2B5EF4-FFF2-40B4-BE49-F238E27FC236}">
                <a16:creationId xmlns:a16="http://schemas.microsoft.com/office/drawing/2014/main" id="{F0CB7DA9-70A6-CA0B-454E-8A19B6A04B0D}"/>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Analysis of Partial Results</a:t>
            </a:r>
            <a:endParaRPr lang="en-US" sz="4000" dirty="0"/>
          </a:p>
        </p:txBody>
      </p:sp>
      <p:pic>
        <p:nvPicPr>
          <p:cNvPr id="8" name="Picture 7">
            <a:extLst>
              <a:ext uri="{FF2B5EF4-FFF2-40B4-BE49-F238E27FC236}">
                <a16:creationId xmlns:a16="http://schemas.microsoft.com/office/drawing/2014/main" id="{44AAF9F7-425A-9B60-ACC3-A759DBF1E8B6}"/>
              </a:ext>
            </a:extLst>
          </p:cNvPr>
          <p:cNvPicPr>
            <a:picLocks noChangeAspect="1"/>
          </p:cNvPicPr>
          <p:nvPr/>
        </p:nvPicPr>
        <p:blipFill>
          <a:blip r:embed="rId2"/>
          <a:stretch>
            <a:fillRect/>
          </a:stretch>
        </p:blipFill>
        <p:spPr>
          <a:xfrm>
            <a:off x="444920" y="1380895"/>
            <a:ext cx="5473183" cy="4096209"/>
          </a:xfrm>
          <a:prstGeom prst="rect">
            <a:avLst/>
          </a:prstGeom>
        </p:spPr>
      </p:pic>
      <p:pic>
        <p:nvPicPr>
          <p:cNvPr id="9" name="Picture 8">
            <a:extLst>
              <a:ext uri="{FF2B5EF4-FFF2-40B4-BE49-F238E27FC236}">
                <a16:creationId xmlns:a16="http://schemas.microsoft.com/office/drawing/2014/main" id="{E97C320F-E884-004B-AB15-F41EFF39C974}"/>
              </a:ext>
            </a:extLst>
          </p:cNvPr>
          <p:cNvPicPr>
            <a:picLocks noChangeAspect="1"/>
          </p:cNvPicPr>
          <p:nvPr/>
        </p:nvPicPr>
        <p:blipFill>
          <a:blip r:embed="rId3"/>
          <a:stretch>
            <a:fillRect/>
          </a:stretch>
        </p:blipFill>
        <p:spPr>
          <a:xfrm>
            <a:off x="5918103" y="1178722"/>
            <a:ext cx="5900451" cy="4298382"/>
          </a:xfrm>
          <a:prstGeom prst="rect">
            <a:avLst/>
          </a:prstGeom>
        </p:spPr>
      </p:pic>
      <p:sp>
        <p:nvSpPr>
          <p:cNvPr id="10" name="TextBox 9">
            <a:extLst>
              <a:ext uri="{FF2B5EF4-FFF2-40B4-BE49-F238E27FC236}">
                <a16:creationId xmlns:a16="http://schemas.microsoft.com/office/drawing/2014/main" id="{691CA4B3-F3B5-14FE-583C-B88F4EF14E88}"/>
              </a:ext>
            </a:extLst>
          </p:cNvPr>
          <p:cNvSpPr txBox="1"/>
          <p:nvPr/>
        </p:nvSpPr>
        <p:spPr>
          <a:xfrm>
            <a:off x="1589573" y="5523737"/>
            <a:ext cx="3183875" cy="369332"/>
          </a:xfrm>
          <a:prstGeom prst="rect">
            <a:avLst/>
          </a:prstGeom>
          <a:noFill/>
        </p:spPr>
        <p:txBody>
          <a:bodyPr wrap="square" rtlCol="0">
            <a:spAutoFit/>
          </a:bodyPr>
          <a:lstStyle/>
          <a:p>
            <a:pPr algn="ctr"/>
            <a:r>
              <a:rPr lang="en-US" dirty="0"/>
              <a:t>Before Calcination</a:t>
            </a:r>
            <a:endParaRPr lang="en-IN" dirty="0"/>
          </a:p>
        </p:txBody>
      </p:sp>
      <p:sp>
        <p:nvSpPr>
          <p:cNvPr id="11" name="TextBox 10">
            <a:extLst>
              <a:ext uri="{FF2B5EF4-FFF2-40B4-BE49-F238E27FC236}">
                <a16:creationId xmlns:a16="http://schemas.microsoft.com/office/drawing/2014/main" id="{5F7EAD4A-B236-4110-E7F5-AE41CDAD367F}"/>
              </a:ext>
            </a:extLst>
          </p:cNvPr>
          <p:cNvSpPr txBox="1"/>
          <p:nvPr/>
        </p:nvSpPr>
        <p:spPr>
          <a:xfrm>
            <a:off x="7418554" y="5521317"/>
            <a:ext cx="3470313" cy="369332"/>
          </a:xfrm>
          <a:prstGeom prst="rect">
            <a:avLst/>
          </a:prstGeom>
          <a:noFill/>
        </p:spPr>
        <p:txBody>
          <a:bodyPr wrap="square" rtlCol="0">
            <a:spAutoFit/>
          </a:bodyPr>
          <a:lstStyle/>
          <a:p>
            <a:pPr algn="ctr"/>
            <a:r>
              <a:rPr lang="en-US" dirty="0"/>
              <a:t>After Calcination</a:t>
            </a:r>
            <a:endParaRPr lang="en-IN" dirty="0"/>
          </a:p>
        </p:txBody>
      </p:sp>
    </p:spTree>
    <p:extLst>
      <p:ext uri="{BB962C8B-B14F-4D97-AF65-F5344CB8AC3E}">
        <p14:creationId xmlns:p14="http://schemas.microsoft.com/office/powerpoint/2010/main" val="2727899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F7CB4-6837-8F46-AE45-532D980A049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BE806D0-9B89-C26C-864C-096BD725C60B}"/>
              </a:ext>
            </a:extLst>
          </p:cNvPr>
          <p:cNvSpPr>
            <a:spLocks noGrp="1"/>
          </p:cNvSpPr>
          <p:nvPr>
            <p:ph idx="1"/>
          </p:nvPr>
        </p:nvSpPr>
        <p:spPr/>
        <p:txBody>
          <a:bodyPr/>
          <a:lstStyle/>
          <a:p>
            <a:endParaRPr lang="en-IN" dirty="0"/>
          </a:p>
        </p:txBody>
      </p:sp>
      <p:sp>
        <p:nvSpPr>
          <p:cNvPr id="3" name="Date Placeholder 2">
            <a:extLst>
              <a:ext uri="{FF2B5EF4-FFF2-40B4-BE49-F238E27FC236}">
                <a16:creationId xmlns:a16="http://schemas.microsoft.com/office/drawing/2014/main" id="{B3317859-075D-E2ED-B5D6-EF932D325008}"/>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009002ED-4DED-4F6C-3CAC-B492AB747400}"/>
              </a:ext>
            </a:extLst>
          </p:cNvPr>
          <p:cNvSpPr>
            <a:spLocks noGrp="1"/>
          </p:cNvSpPr>
          <p:nvPr>
            <p:ph type="sldNum" sz="quarter" idx="12"/>
          </p:nvPr>
        </p:nvSpPr>
        <p:spPr/>
        <p:txBody>
          <a:bodyPr/>
          <a:lstStyle/>
          <a:p>
            <a:r>
              <a:rPr lang="en-IN" dirty="0"/>
              <a:t>Slide No. </a:t>
            </a:r>
            <a:fld id="{9BA15CD2-76D6-4EFE-91D9-7087332E3318}" type="slidenum">
              <a:rPr lang="en-IN" smtClean="0"/>
              <a:pPr/>
              <a:t>18</a:t>
            </a:fld>
            <a:endParaRPr lang="en-IN" dirty="0"/>
          </a:p>
        </p:txBody>
      </p:sp>
      <p:sp>
        <p:nvSpPr>
          <p:cNvPr id="2" name="Title 1">
            <a:extLst>
              <a:ext uri="{FF2B5EF4-FFF2-40B4-BE49-F238E27FC236}">
                <a16:creationId xmlns:a16="http://schemas.microsoft.com/office/drawing/2014/main" id="{FF205A08-EB43-A89D-82BE-7DCCB5E8DF18}"/>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Deliverables and Outcomes</a:t>
            </a:r>
            <a:endParaRPr lang="en-US" sz="4000" dirty="0"/>
          </a:p>
        </p:txBody>
      </p:sp>
    </p:spTree>
    <p:extLst>
      <p:ext uri="{BB962C8B-B14F-4D97-AF65-F5344CB8AC3E}">
        <p14:creationId xmlns:p14="http://schemas.microsoft.com/office/powerpoint/2010/main" val="3778649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CF87-C853-8E73-1B89-7EFCCF7B95C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D712D86-F28F-6CBA-57DC-23293FA8805B}"/>
              </a:ext>
            </a:extLst>
          </p:cNvPr>
          <p:cNvSpPr>
            <a:spLocks noGrp="1"/>
          </p:cNvSpPr>
          <p:nvPr>
            <p:ph idx="1"/>
          </p:nvPr>
        </p:nvSpPr>
        <p:spPr/>
        <p:txBody>
          <a:bodyPr/>
          <a:lstStyle/>
          <a:p>
            <a:r>
              <a:rPr lang="en-IN" dirty="0">
                <a:latin typeface="Bahnschrift SemiBold" panose="020B0502040204020203" pitchFamily="34" charset="0"/>
              </a:rPr>
              <a:t>To increase the purity of compound we need to heat the compound a little more</a:t>
            </a:r>
          </a:p>
          <a:p>
            <a:r>
              <a:rPr lang="en-IN" dirty="0">
                <a:latin typeface="Bahnschrift SemiBold" panose="020B0502040204020203" pitchFamily="34" charset="0"/>
              </a:rPr>
              <a:t>Obtain XRD of the compound</a:t>
            </a:r>
          </a:p>
          <a:p>
            <a:r>
              <a:rPr lang="en-IN" dirty="0">
                <a:latin typeface="Bahnschrift SemiBold" panose="020B0502040204020203" pitchFamily="34" charset="0"/>
              </a:rPr>
              <a:t>Perform Testing:</a:t>
            </a:r>
          </a:p>
          <a:p>
            <a:pPr marL="514350" indent="-514350">
              <a:buFont typeface="+mj-lt"/>
              <a:buAutoNum type="arabicPeriod"/>
            </a:pPr>
            <a:r>
              <a:rPr lang="en-IN" dirty="0">
                <a:latin typeface="Bahnschrift SemiBold" panose="020B0502040204020203" pitchFamily="34" charset="0"/>
              </a:rPr>
              <a:t>Cyclic Voltammetry</a:t>
            </a:r>
          </a:p>
          <a:p>
            <a:pPr marL="514350" indent="-514350">
              <a:buFont typeface="+mj-lt"/>
              <a:buAutoNum type="arabicPeriod"/>
            </a:pPr>
            <a:r>
              <a:rPr lang="en-IN" dirty="0">
                <a:latin typeface="Bahnschrift SemiBold" panose="020B0502040204020203" pitchFamily="34" charset="0"/>
              </a:rPr>
              <a:t>Chronopotentiometry</a:t>
            </a:r>
          </a:p>
          <a:p>
            <a:pPr marL="514350" indent="-514350">
              <a:buFont typeface="+mj-lt"/>
              <a:buAutoNum type="arabicPeriod"/>
            </a:pPr>
            <a:r>
              <a:rPr lang="en-IN" dirty="0">
                <a:latin typeface="Bahnschrift SemiBold" panose="020B0502040204020203" pitchFamily="34" charset="0"/>
              </a:rPr>
              <a:t>Electrochemical Impedance Spectroscopy</a:t>
            </a:r>
          </a:p>
          <a:p>
            <a:pPr marL="514350" indent="-514350">
              <a:buFont typeface="+mj-lt"/>
              <a:buAutoNum type="arabicPeriod"/>
            </a:pPr>
            <a:r>
              <a:rPr lang="en-IN" dirty="0">
                <a:latin typeface="Bahnschrift SemiBold" panose="020B0502040204020203" pitchFamily="34" charset="0"/>
              </a:rPr>
              <a:t>Thermogravimetric Analysis </a:t>
            </a:r>
          </a:p>
          <a:p>
            <a:r>
              <a:rPr lang="en-IN" dirty="0">
                <a:latin typeface="Bahnschrift SemiBold" panose="020B0502040204020203" pitchFamily="34" charset="0"/>
              </a:rPr>
              <a:t>Assembly of coin cell</a:t>
            </a:r>
          </a:p>
          <a:p>
            <a:pPr marL="514350" indent="-514350">
              <a:buFont typeface="+mj-lt"/>
              <a:buAutoNum type="arabicPeriod"/>
            </a:pPr>
            <a:endParaRPr lang="en-IN" dirty="0"/>
          </a:p>
        </p:txBody>
      </p:sp>
      <p:sp>
        <p:nvSpPr>
          <p:cNvPr id="3" name="Date Placeholder 2">
            <a:extLst>
              <a:ext uri="{FF2B5EF4-FFF2-40B4-BE49-F238E27FC236}">
                <a16:creationId xmlns:a16="http://schemas.microsoft.com/office/drawing/2014/main" id="{1D732D01-E83F-0978-876D-3786B9669C2F}"/>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2BE623C8-1705-96F5-E7C3-BA31E3B5F577}"/>
              </a:ext>
            </a:extLst>
          </p:cNvPr>
          <p:cNvSpPr>
            <a:spLocks noGrp="1"/>
          </p:cNvSpPr>
          <p:nvPr>
            <p:ph type="sldNum" sz="quarter" idx="12"/>
          </p:nvPr>
        </p:nvSpPr>
        <p:spPr/>
        <p:txBody>
          <a:bodyPr/>
          <a:lstStyle/>
          <a:p>
            <a:r>
              <a:rPr lang="en-IN" dirty="0"/>
              <a:t>Slide No. </a:t>
            </a:r>
            <a:fld id="{9BA15CD2-76D6-4EFE-91D9-7087332E3318}" type="slidenum">
              <a:rPr lang="en-IN" smtClean="0"/>
              <a:pPr/>
              <a:t>19</a:t>
            </a:fld>
            <a:endParaRPr lang="en-IN" dirty="0"/>
          </a:p>
        </p:txBody>
      </p:sp>
      <p:sp>
        <p:nvSpPr>
          <p:cNvPr id="2" name="Title 1">
            <a:extLst>
              <a:ext uri="{FF2B5EF4-FFF2-40B4-BE49-F238E27FC236}">
                <a16:creationId xmlns:a16="http://schemas.microsoft.com/office/drawing/2014/main" id="{5BC0189A-0A68-5C05-CEFD-C081685EDF88}"/>
              </a:ext>
            </a:extLst>
          </p:cNvPr>
          <p:cNvSpPr txBox="1">
            <a:spLocks/>
          </p:cNvSpPr>
          <p:nvPr/>
        </p:nvSpPr>
        <p:spPr>
          <a:xfrm>
            <a:off x="1386895" y="145670"/>
            <a:ext cx="9834426" cy="839401"/>
          </a:xfrm>
          <a:prstGeom prst="rect">
            <a:avLst/>
          </a:prstGeom>
          <a:no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Future Work (Remaining Tasks)</a:t>
            </a:r>
            <a:endParaRPr lang="en-US" sz="4000" dirty="0"/>
          </a:p>
        </p:txBody>
      </p:sp>
    </p:spTree>
    <p:extLst>
      <p:ext uri="{BB962C8B-B14F-4D97-AF65-F5344CB8AC3E}">
        <p14:creationId xmlns:p14="http://schemas.microsoft.com/office/powerpoint/2010/main" val="951296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0C888C-4575-335B-FA8F-F2C2631CFE39}"/>
              </a:ext>
            </a:extLst>
          </p:cNvPr>
          <p:cNvSpPr>
            <a:spLocks noGrp="1"/>
          </p:cNvSpPr>
          <p:nvPr>
            <p:ph idx="1"/>
          </p:nvPr>
        </p:nvSpPr>
        <p:spPr>
          <a:xfrm>
            <a:off x="174811" y="1117600"/>
            <a:ext cx="11842377" cy="5229605"/>
          </a:xfrm>
        </p:spPr>
        <p:txBody>
          <a:bodyPr>
            <a:normAutofit/>
          </a:bodyPr>
          <a:lstStyle/>
          <a:p>
            <a:r>
              <a:rPr lang="en-IN" dirty="0">
                <a:latin typeface="Bahnschrift SemiBold" panose="020B0502040204020203" pitchFamily="34" charset="0"/>
              </a:rPr>
              <a:t>Summarize the progress made in Phase-II and its alignment with the project’s overall objectives.</a:t>
            </a:r>
          </a:p>
          <a:p>
            <a:r>
              <a:rPr lang="en-IN" dirty="0">
                <a:latin typeface="Bahnschrift SemiBold" panose="020B0502040204020203" pitchFamily="34" charset="0"/>
              </a:rPr>
              <a:t>Reflect on the impact of the current work and how it sets the stage for Phase-III.</a:t>
            </a:r>
          </a:p>
          <a:p>
            <a:r>
              <a:rPr lang="en-IN" dirty="0">
                <a:latin typeface="Bahnschrift SemiBold" panose="020B0502040204020203" pitchFamily="34" charset="0"/>
              </a:rPr>
              <a:t>Acknowledge contributions, support, or any collaborative efforts involved in the project.</a:t>
            </a:r>
          </a:p>
          <a:p>
            <a:r>
              <a:rPr lang="en-IN" dirty="0">
                <a:latin typeface="Bahnschrift SemiBold" panose="020B0502040204020203" pitchFamily="34" charset="0"/>
              </a:rPr>
              <a:t>Mention any final takeaways or insights gained from the phase.</a:t>
            </a:r>
          </a:p>
        </p:txBody>
      </p:sp>
      <p:sp>
        <p:nvSpPr>
          <p:cNvPr id="3" name="Date Placeholder 2">
            <a:extLst>
              <a:ext uri="{FF2B5EF4-FFF2-40B4-BE49-F238E27FC236}">
                <a16:creationId xmlns:a16="http://schemas.microsoft.com/office/drawing/2014/main" id="{6F6AF141-6363-0CAE-30CA-9F94BDD926A4}"/>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6EF892E3-118C-9755-60CE-3C3C2B20EBCC}"/>
              </a:ext>
            </a:extLst>
          </p:cNvPr>
          <p:cNvSpPr>
            <a:spLocks noGrp="1"/>
          </p:cNvSpPr>
          <p:nvPr>
            <p:ph type="sldNum" sz="quarter" idx="12"/>
          </p:nvPr>
        </p:nvSpPr>
        <p:spPr/>
        <p:txBody>
          <a:bodyPr/>
          <a:lstStyle/>
          <a:p>
            <a:fld id="{9BA15CD2-76D6-4EFE-91D9-7087332E3318}" type="slidenum">
              <a:rPr lang="en-IN" smtClean="0"/>
              <a:pPr/>
              <a:t>20</a:t>
            </a:fld>
            <a:endParaRPr lang="en-IN" dirty="0"/>
          </a:p>
        </p:txBody>
      </p:sp>
      <p:sp>
        <p:nvSpPr>
          <p:cNvPr id="5" name="Title 1">
            <a:extLst>
              <a:ext uri="{FF2B5EF4-FFF2-40B4-BE49-F238E27FC236}">
                <a16:creationId xmlns:a16="http://schemas.microsoft.com/office/drawing/2014/main" id="{393DD6B8-40A1-00CF-B2F1-ED5905311783}"/>
              </a:ext>
            </a:extLst>
          </p:cNvPr>
          <p:cNvSpPr txBox="1">
            <a:spLocks/>
          </p:cNvSpPr>
          <p:nvPr/>
        </p:nvSpPr>
        <p:spPr>
          <a:xfrm>
            <a:off x="2284362" y="145670"/>
            <a:ext cx="8146571" cy="839401"/>
          </a:xfrm>
          <a:prstGeom prst="rect">
            <a:avLst/>
          </a:prstGeom>
          <a:solidFill>
            <a:schemeClr val="bg1"/>
          </a:solidFill>
          <a:ln w="3175">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2800" b="1">
                <a:solidFill>
                  <a:srgbClr val="C00000"/>
                </a:solidFill>
                <a:latin typeface="Bookman Old Style" panose="020506040505050202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4000" dirty="0"/>
              <a:t>Conclusion</a:t>
            </a:r>
          </a:p>
        </p:txBody>
      </p:sp>
    </p:spTree>
    <p:extLst>
      <p:ext uri="{BB962C8B-B14F-4D97-AF65-F5344CB8AC3E}">
        <p14:creationId xmlns:p14="http://schemas.microsoft.com/office/powerpoint/2010/main" val="2237272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BEB4DCF-16CB-8396-87A1-E37AFD89666A}"/>
              </a:ext>
            </a:extLst>
          </p:cNvPr>
          <p:cNvSpPr>
            <a:spLocks noGrp="1"/>
          </p:cNvSpPr>
          <p:nvPr>
            <p:ph type="dt" sz="half" idx="10"/>
          </p:nvPr>
        </p:nvSpPr>
        <p:spPr/>
        <p:txBody>
          <a:bodyPr/>
          <a:lstStyle/>
          <a:p>
            <a:pPr algn="ctr"/>
            <a:fld id="{6BA3F8B8-C75C-44FF-9C37-B9B69285372F}" type="datetime2">
              <a:rPr lang="en-IN" smtClean="0"/>
              <a:t>Monday, 23 June 2025</a:t>
            </a:fld>
            <a:endParaRPr lang="en-IN" dirty="0"/>
          </a:p>
        </p:txBody>
      </p:sp>
      <p:sp>
        <p:nvSpPr>
          <p:cNvPr id="4" name="Slide Number Placeholder 3">
            <a:extLst>
              <a:ext uri="{FF2B5EF4-FFF2-40B4-BE49-F238E27FC236}">
                <a16:creationId xmlns:a16="http://schemas.microsoft.com/office/drawing/2014/main" id="{247BC478-F0AA-1301-724C-04C081C8A3CB}"/>
              </a:ext>
            </a:extLst>
          </p:cNvPr>
          <p:cNvSpPr>
            <a:spLocks noGrp="1"/>
          </p:cNvSpPr>
          <p:nvPr>
            <p:ph type="sldNum" sz="quarter" idx="12"/>
          </p:nvPr>
        </p:nvSpPr>
        <p:spPr/>
        <p:txBody>
          <a:bodyPr/>
          <a:lstStyle/>
          <a:p>
            <a:fld id="{9BA15CD2-76D6-4EFE-91D9-7087332E3318}" type="slidenum">
              <a:rPr lang="en-IN" smtClean="0"/>
              <a:pPr/>
              <a:t>21</a:t>
            </a:fld>
            <a:endParaRPr lang="en-IN" dirty="0"/>
          </a:p>
        </p:txBody>
      </p:sp>
      <p:pic>
        <p:nvPicPr>
          <p:cNvPr id="5" name="Picture 4">
            <a:extLst>
              <a:ext uri="{FF2B5EF4-FFF2-40B4-BE49-F238E27FC236}">
                <a16:creationId xmlns:a16="http://schemas.microsoft.com/office/drawing/2014/main" id="{96390A6D-369A-D728-5F7B-C3DF82DD90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51096" y="1605964"/>
            <a:ext cx="5889812" cy="3646074"/>
          </a:xfrm>
          <a:prstGeom prst="rect">
            <a:avLst/>
          </a:prstGeom>
        </p:spPr>
      </p:pic>
    </p:spTree>
    <p:extLst>
      <p:ext uri="{BB962C8B-B14F-4D97-AF65-F5344CB8AC3E}">
        <p14:creationId xmlns:p14="http://schemas.microsoft.com/office/powerpoint/2010/main" val="1253120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9882</TotalTime>
  <Words>760</Words>
  <Application>Microsoft Office PowerPoint</Application>
  <PresentationFormat>Widescreen</PresentationFormat>
  <Paragraphs>165</Paragraphs>
  <Slides>21</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Bahnschrift</vt:lpstr>
      <vt:lpstr>Bahnschrift SemiBold</vt:lpstr>
      <vt:lpstr>Berlin Sans FB</vt:lpstr>
      <vt:lpstr>Berlin Sans FB Demi</vt:lpstr>
      <vt:lpstr>Bookman Old Style</vt:lpstr>
      <vt:lpstr>Calibri</vt:lpstr>
      <vt:lpstr>Calibri Light</vt:lpstr>
      <vt:lpstr>gg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HP</cp:lastModifiedBy>
  <cp:revision>505</cp:revision>
  <cp:lastPrinted>2024-02-20T07:16:26Z</cp:lastPrinted>
  <dcterms:created xsi:type="dcterms:W3CDTF">2021-06-02T13:10:21Z</dcterms:created>
  <dcterms:modified xsi:type="dcterms:W3CDTF">2025-06-23T16:32:27Z</dcterms:modified>
</cp:coreProperties>
</file>