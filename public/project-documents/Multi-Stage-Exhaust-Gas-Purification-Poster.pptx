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Bookman Old Style" panose="02050604050505020204" pitchFamily="18" charset="0"/>
      <p:regular r:id="rId4"/>
      <p:bold r:id="rId5"/>
      <p:italic r:id="rId6"/>
      <p:boldItalic r:id="rId7"/>
    </p:embeddedFont>
    <p:embeddedFont>
      <p:font typeface="Comic Sans MS" panose="030F0702030302020204" pitchFamily="66" charset="0"/>
      <p:regular r:id="rId8"/>
      <p:bold r:id="rId9"/>
      <p:italic r:id="rId10"/>
      <p:boldItalic r:id="rId11"/>
    </p:embeddedFon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Playfair Display" panose="00000500000000000000" pitchFamily="2" charset="0"/>
      <p:regular r:id="rId16"/>
      <p:bold r:id="rId17"/>
      <p:italic r:id="rId18"/>
      <p:boldItalic r:id="rId19"/>
    </p:embeddedFont>
    <p:embeddedFont>
      <p:font typeface="Tahoma" panose="020B0604030504040204" pitchFamily="34" charset="0"/>
      <p:regular r:id="rId20"/>
      <p:bold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8" autoAdjust="0"/>
  </p:normalViewPr>
  <p:slideViewPr>
    <p:cSldViewPr snapToGrid="0">
      <p:cViewPr>
        <p:scale>
          <a:sx n="33" d="100"/>
          <a:sy n="33" d="100"/>
        </p:scale>
        <p:origin x="2280" y="-941"/>
      </p:cViewPr>
      <p:guideLst>
        <p:guide orient="horz" pos="6735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font" Target="fonts/font21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font" Target="fonts/font20.fntdata"/><Relationship Id="rId28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font" Target="fonts/font1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58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0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201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8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95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57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92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0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3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60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25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jpeg"/><Relationship Id="rId3" Type="http://schemas.openxmlformats.org/officeDocument/2006/relationships/image" Target="../media/image1.jpeg"/><Relationship Id="rId7" Type="http://schemas.openxmlformats.org/officeDocument/2006/relationships/hyperlink" Target="https://doi.org/10.3390/molecules25246041" TargetMode="External"/><Relationship Id="rId12" Type="http://schemas.openxmlformats.org/officeDocument/2006/relationships/image" Target="../media/image7.jpeg"/><Relationship Id="rId17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mc.ncbi.nlm.nih.gov/articles/PMC4243514/" TargetMode="External"/><Relationship Id="rId11" Type="http://schemas.openxmlformats.org/officeDocument/2006/relationships/image" Target="../media/image6.jpeg"/><Relationship Id="rId5" Type="http://schemas.openxmlformats.org/officeDocument/2006/relationships/hyperlink" Target="https://www.irjet.net/archives/V6/i5/IRJET-V6I51108.pdf" TargetMode="External"/><Relationship Id="rId15" Type="http://schemas.openxmlformats.org/officeDocument/2006/relationships/image" Target="../media/image10.jpeg"/><Relationship Id="rId10" Type="http://schemas.openxmlformats.org/officeDocument/2006/relationships/image" Target="../media/image5.jpeg"/><Relationship Id="rId4" Type="http://schemas.openxmlformats.org/officeDocument/2006/relationships/image" Target="../media/image2.png"/><Relationship Id="rId9" Type="http://schemas.openxmlformats.org/officeDocument/2006/relationships/image" Target="../media/image4.jpeg"/><Relationship Id="rId1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720867" y="1962856"/>
            <a:ext cx="7316458" cy="19230332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IN" sz="1172" dirty="0" err="1">
                <a:solidFill>
                  <a:schemeClr val="dk1"/>
                </a:solidFill>
              </a:rPr>
              <a:t>gdg</a:t>
            </a:r>
            <a:endParaRPr sz="1172" dirty="0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9" y="41090"/>
            <a:ext cx="14935940" cy="17958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IN" sz="24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RV College of Engineering, Bengaluru – 560059.</a:t>
            </a: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97057" y="694056"/>
            <a:ext cx="12120998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                 Title: </a:t>
            </a:r>
            <a:r>
              <a:rPr lang="en-US" b="1" dirty="0"/>
              <a:t>Multi-Stage Exhaust Gas Purification System for Automobiles</a:t>
            </a:r>
            <a:endParaRPr sz="2512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568116" y="1114989"/>
            <a:ext cx="12077139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Tharun N | Vignesh Hariharan | Devisri Harshini Baramal | Adithya M Yargal | Varsha V</a:t>
            </a:r>
          </a:p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1RV24CV059 | 1RV24CS317 | 1RV24IS032 | 1RV24AS005 | 1RV24CH039 </a:t>
            </a:r>
            <a:endParaRPr sz="2000" dirty="0">
              <a:solidFill>
                <a:srgbClr val="975329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noAutofit/>
          </a:bodyPr>
          <a:lstStyle/>
          <a:p>
            <a:pPr marL="143538" indent="-74427">
              <a:lnSpc>
                <a:spcPct val="110000"/>
              </a:lnSpc>
              <a:buClr>
                <a:schemeClr val="dk1"/>
              </a:buClr>
              <a:buSzPts val="2600"/>
            </a:pPr>
            <a:endParaRPr sz="1088" dirty="0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 dirty="0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 dirty="0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 dirty="0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 dirty="0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 dirty="0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 dirty="0">
              <a:solidFill>
                <a:schemeClr val="dk1"/>
              </a:solidFill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42752" y="1968997"/>
            <a:ext cx="7519803" cy="19230333"/>
            <a:chOff x="26374694" y="8524168"/>
            <a:chExt cx="17964396" cy="28277704"/>
          </a:xfrm>
        </p:grpSpPr>
        <p:grpSp>
          <p:nvGrpSpPr>
            <p:cNvPr id="128" name="Google Shape;128;p1"/>
            <p:cNvGrpSpPr/>
            <p:nvPr/>
          </p:nvGrpSpPr>
          <p:grpSpPr>
            <a:xfrm>
              <a:off x="26374694" y="8524168"/>
              <a:ext cx="17964396" cy="28277704"/>
              <a:chOff x="26287382" y="8000294"/>
              <a:chExt cx="17964396" cy="28277704"/>
            </a:xfrm>
          </p:grpSpPr>
          <p:sp>
            <p:nvSpPr>
              <p:cNvPr id="131" name="Google Shape;131;p1"/>
              <p:cNvSpPr/>
              <p:nvPr/>
            </p:nvSpPr>
            <p:spPr>
              <a:xfrm>
                <a:off x="26287382" y="8000294"/>
                <a:ext cx="17964396" cy="28277704"/>
              </a:xfrm>
              <a:prstGeom prst="roundRect">
                <a:avLst>
                  <a:gd name="adj" fmla="val 2556"/>
                </a:avLst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spcFirstLastPara="1" wrap="square" lIns="38271" tIns="19130" rIns="38271" bIns="19130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3600"/>
                </a:pPr>
                <a:endParaRPr lang="en-IN" sz="1507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>
                  <a:buClr>
                    <a:schemeClr val="dk1"/>
                  </a:buClr>
                  <a:buSzPts val="3600"/>
                </a:pPr>
                <a:r>
                  <a:rPr lang="en-IN" sz="1507" dirty="0"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    </a:t>
                </a:r>
                <a:endParaRPr sz="1507" dirty="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26784567" y="18102041"/>
                <a:ext cx="17088143" cy="25007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8271" tIns="19130" rIns="38271" bIns="19130" anchor="t" anchorCtr="0">
                <a:spAutoFit/>
              </a:bodyPr>
              <a:lstStyle/>
              <a:p>
                <a:endParaRPr lang="en-IN" dirty="0"/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</p:txBody>
          </p:sp>
        </p:grpSp>
        <p:sp>
          <p:nvSpPr>
            <p:cNvPr id="150" name="Google Shape;150;p1"/>
            <p:cNvSpPr txBox="1"/>
            <p:nvPr/>
          </p:nvSpPr>
          <p:spPr>
            <a:xfrm>
              <a:off x="26650065" y="8801932"/>
              <a:ext cx="17344338" cy="473653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71" tIns="19130" rIns="38271" bIns="19130" anchor="t" anchorCtr="0">
              <a:spAutoFit/>
            </a:bodyPr>
            <a:lstStyle/>
            <a:p>
              <a:pPr algn="ctr">
                <a:buClr>
                  <a:srgbClr val="002060"/>
                </a:buClr>
                <a:buSzPts val="4400"/>
              </a:pPr>
              <a:r>
                <a:rPr lang="en-IN" sz="1842" b="1" dirty="0">
                  <a:solidFill>
                    <a:srgbClr val="002060"/>
                  </a:solidFill>
                  <a:latin typeface="Times New Roman" panose="02020603050405020304" pitchFamily="18" charset="0"/>
                  <a:ea typeface="Comic Sans MS" panose="030F0702030302020204"/>
                  <a:cs typeface="Times New Roman" panose="02020603050405020304" pitchFamily="18" charset="0"/>
                  <a:sym typeface="Comic Sans MS" panose="030F0702030302020204"/>
                </a:rPr>
                <a:t>         Introduction</a:t>
              </a:r>
              <a:endParaRPr sz="1842" b="1" dirty="0">
                <a:solidFill>
                  <a:srgbClr val="002060"/>
                </a:solidFill>
                <a:latin typeface="Times New Roman" panose="02020603050405020304" pitchFamily="18" charset="0"/>
                <a:ea typeface="Comic Sans MS" panose="030F0702030302020204"/>
                <a:cs typeface="Times New Roman" panose="02020603050405020304" pitchFamily="18" charset="0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424665" y="16214823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39230" indent="-143538">
              <a:buClr>
                <a:schemeClr val="dk1"/>
              </a:buClr>
              <a:buSzPts val="3600"/>
            </a:pPr>
            <a:endParaRPr sz="1507" dirty="0">
              <a:solidFill>
                <a:schemeClr val="dk1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213909" y="10920044"/>
            <a:ext cx="7397264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Methodology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7801192" y="2145342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Tools used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783025" y="6694004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Results and Discussions</a:t>
            </a:r>
          </a:p>
        </p:txBody>
      </p:sp>
      <p:sp>
        <p:nvSpPr>
          <p:cNvPr id="174" name="Google Shape;174;p1"/>
          <p:cNvSpPr txBox="1"/>
          <p:nvPr/>
        </p:nvSpPr>
        <p:spPr>
          <a:xfrm>
            <a:off x="7838482" y="16587836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000" b="1" i="0" dirty="0">
                <a:effectLst/>
                <a:latin typeface="Söhne"/>
              </a:rPr>
              <a:t>References</a:t>
            </a:r>
          </a:p>
        </p:txBody>
      </p:sp>
      <p:sp>
        <p:nvSpPr>
          <p:cNvPr id="179" name="Google Shape;17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16" rIns="0" bIns="0" anchor="t" anchorCtr="0">
            <a:spAutoFit/>
          </a:bodyPr>
          <a:lstStyle/>
          <a:p>
            <a:pPr marL="5316"/>
            <a:r>
              <a:rPr lang="en-IN" sz="1674" i="1" dirty="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50;p1">
            <a:extLst>
              <a:ext uri="{FF2B5EF4-FFF2-40B4-BE49-F238E27FC236}">
                <a16:creationId xmlns:a16="http://schemas.microsoft.com/office/drawing/2014/main" id="{96549883-8540-6668-D479-B7068ACA60DE}"/>
              </a:ext>
            </a:extLst>
          </p:cNvPr>
          <p:cNvSpPr txBox="1"/>
          <p:nvPr/>
        </p:nvSpPr>
        <p:spPr>
          <a:xfrm>
            <a:off x="299159" y="8428447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Objectives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3" name="Google Shape;149;p1">
            <a:extLst>
              <a:ext uri="{FF2B5EF4-FFF2-40B4-BE49-F238E27FC236}">
                <a16:creationId xmlns:a16="http://schemas.microsoft.com/office/drawing/2014/main" id="{D84E6594-496A-649E-D408-EC8C95C89896}"/>
              </a:ext>
            </a:extLst>
          </p:cNvPr>
          <p:cNvSpPr txBox="1"/>
          <p:nvPr/>
        </p:nvSpPr>
        <p:spPr>
          <a:xfrm>
            <a:off x="246806" y="2596470"/>
            <a:ext cx="7008020" cy="336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just">
              <a:buClr>
                <a:schemeClr val="dk1"/>
              </a:buClr>
              <a:buSzPts val="4000"/>
            </a:pPr>
            <a:r>
              <a:rPr lang="en-US" dirty="0"/>
              <a:t>Vehicular emissions are a major source of urban pollution. This project presents a modular exhaust purification system using ESP and a catalyst-coated honeycomb filter to reduce PM, CO, NOₓ, and other harmful gases without affecting engine performance.</a:t>
            </a: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/>
          </a:p>
        </p:txBody>
      </p:sp>
      <p:sp>
        <p:nvSpPr>
          <p:cNvPr id="4" name="Google Shape;150;p1">
            <a:extLst>
              <a:ext uri="{FF2B5EF4-FFF2-40B4-BE49-F238E27FC236}">
                <a16:creationId xmlns:a16="http://schemas.microsoft.com/office/drawing/2014/main" id="{6F6964B9-9CEB-4BB5-CA66-443F445C218E}"/>
              </a:ext>
            </a:extLst>
          </p:cNvPr>
          <p:cNvSpPr txBox="1"/>
          <p:nvPr/>
        </p:nvSpPr>
        <p:spPr>
          <a:xfrm>
            <a:off x="243629" y="5304852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Problem Definition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5" name="Google Shape;149;p1">
            <a:extLst>
              <a:ext uri="{FF2B5EF4-FFF2-40B4-BE49-F238E27FC236}">
                <a16:creationId xmlns:a16="http://schemas.microsoft.com/office/drawing/2014/main" id="{0AD56C33-8595-63E3-6908-627CBDAC131B}"/>
              </a:ext>
            </a:extLst>
          </p:cNvPr>
          <p:cNvSpPr txBox="1"/>
          <p:nvPr/>
        </p:nvSpPr>
        <p:spPr>
          <a:xfrm>
            <a:off x="408532" y="5759039"/>
            <a:ext cx="2918194" cy="19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just">
              <a:buClr>
                <a:schemeClr val="dk1"/>
              </a:buClr>
              <a:buSzPts val="4000"/>
            </a:pPr>
            <a:r>
              <a:rPr lang="en-US" dirty="0"/>
              <a:t>Existing exhaust systems are inefficient under cold starts and aging. This leads to emissions of PM, CO, NOₓ, SOₓ, and VOCs—damaging air quality and public health</a:t>
            </a: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Google Shape;149;p1">
            <a:extLst>
              <a:ext uri="{FF2B5EF4-FFF2-40B4-BE49-F238E27FC236}">
                <a16:creationId xmlns:a16="http://schemas.microsoft.com/office/drawing/2014/main" id="{ECCC3B4A-9606-90BB-BB04-2AC50E455D9E}"/>
              </a:ext>
            </a:extLst>
          </p:cNvPr>
          <p:cNvSpPr txBox="1"/>
          <p:nvPr/>
        </p:nvSpPr>
        <p:spPr>
          <a:xfrm>
            <a:off x="7912137" y="2616364"/>
            <a:ext cx="7008020" cy="4193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r>
              <a:rPr lang="en-IN" b="1" dirty="0"/>
              <a:t>Design &amp; Simulation-</a:t>
            </a:r>
            <a:r>
              <a:rPr lang="en-IN" dirty="0"/>
              <a:t>CAD Software – for system layout and flow modelling</a:t>
            </a:r>
          </a:p>
          <a:p>
            <a:r>
              <a:rPr lang="en-IN" b="1" dirty="0"/>
              <a:t>Fabrication &amp; Assembly</a:t>
            </a:r>
            <a:endParaRPr lang="en-IN" dirty="0"/>
          </a:p>
          <a:p>
            <a:r>
              <a:rPr lang="en-IN" dirty="0"/>
              <a:t>Angle Grinder – cutting stainless/mild steel plates</a:t>
            </a:r>
          </a:p>
          <a:p>
            <a:r>
              <a:rPr lang="en-IN" dirty="0"/>
              <a:t>Manual Rolling Machine &amp; Bench Vice – forming cylindrical housings</a:t>
            </a:r>
          </a:p>
          <a:p>
            <a:r>
              <a:rPr lang="en-IN" dirty="0"/>
              <a:t>Welding Tools – structural assembly</a:t>
            </a:r>
          </a:p>
          <a:p>
            <a:r>
              <a:rPr lang="en-IN" dirty="0"/>
              <a:t>Laser Cutter – precision flange fabrication</a:t>
            </a:r>
          </a:p>
          <a:p>
            <a:r>
              <a:rPr lang="en-IN" b="1" dirty="0"/>
              <a:t>Catalyst Coating &amp; Activation</a:t>
            </a:r>
            <a:endParaRPr lang="en-IN" dirty="0"/>
          </a:p>
          <a:p>
            <a:r>
              <a:rPr lang="en-IN" b="1" dirty="0"/>
              <a:t>Ceramic Honeycomb Substrate</a:t>
            </a:r>
            <a:r>
              <a:rPr lang="en-IN" dirty="0"/>
              <a:t> – base for catalytic conversion</a:t>
            </a:r>
          </a:p>
          <a:p>
            <a:r>
              <a:rPr lang="en-IN" b="1" dirty="0"/>
              <a:t>Dip Coating Setup</a:t>
            </a:r>
            <a:r>
              <a:rPr lang="en-IN" dirty="0"/>
              <a:t> – applying Cu(NO₃)₂·3H₂O + TiO₂ slurry</a:t>
            </a:r>
          </a:p>
          <a:p>
            <a:r>
              <a:rPr lang="en-IN" b="1" dirty="0"/>
              <a:t>Oven (100 °C)</a:t>
            </a:r>
            <a:r>
              <a:rPr lang="en-IN" dirty="0"/>
              <a:t> – pre-heating substrate</a:t>
            </a:r>
          </a:p>
          <a:p>
            <a:r>
              <a:rPr lang="en-IN" b="1" dirty="0"/>
              <a:t>Muffle Furnace (400 °C)</a:t>
            </a:r>
            <a:r>
              <a:rPr lang="en-IN" dirty="0"/>
              <a:t> – calcination to activate Cuco</a:t>
            </a:r>
          </a:p>
          <a:p>
            <a:r>
              <a:rPr lang="en-IN" b="1" dirty="0"/>
              <a:t>High-Voltage System</a:t>
            </a:r>
            <a:endParaRPr lang="en-IN" dirty="0"/>
          </a:p>
          <a:p>
            <a:r>
              <a:rPr lang="en-IN" dirty="0"/>
              <a:t>Flyback Transformer, Capacitors &amp; Diodes – voltage multiplier circuit</a:t>
            </a:r>
          </a:p>
          <a:p>
            <a:r>
              <a:rPr lang="en-IN" dirty="0"/>
              <a:t>High-Value Resistors (50–470 M</a:t>
            </a:r>
            <a:r>
              <a:rPr lang="el-GR" dirty="0"/>
              <a:t>Ω) – </a:t>
            </a:r>
            <a:r>
              <a:rPr lang="en-IN" dirty="0"/>
              <a:t>current limiting &amp; discharge</a:t>
            </a:r>
          </a:p>
          <a:p>
            <a:endParaRPr lang="en-IN" dirty="0"/>
          </a:p>
        </p:txBody>
      </p:sp>
      <p:pic>
        <p:nvPicPr>
          <p:cNvPr id="11" name="Picture 2" descr="May be an image of text that says &quot;R RASHTREEYA R SIKSHANA SAMITHI SAMAITHI V TRUST INSTITUTIONS&quot;">
            <a:extLst>
              <a:ext uri="{FF2B5EF4-FFF2-40B4-BE49-F238E27FC236}">
                <a16:creationId xmlns:a16="http://schemas.microsoft.com/office/drawing/2014/main" id="{7C2EFEC0-42F0-B598-C59C-701CF1C97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2" y="111045"/>
            <a:ext cx="1655508" cy="16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C3C138E0-EC15-F332-8FAA-6F2D3C197756}"/>
              </a:ext>
            </a:extLst>
          </p:cNvPr>
          <p:cNvSpPr txBox="1"/>
          <p:nvPr/>
        </p:nvSpPr>
        <p:spPr>
          <a:xfrm>
            <a:off x="9899595" y="1405831"/>
            <a:ext cx="5143500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                    Theme: Environment</a:t>
            </a:r>
            <a:endParaRPr sz="2512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3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830348" y="13036948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Conclusions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" name="Google Shape;149;p1">
            <a:extLst>
              <a:ext uri="{FF2B5EF4-FFF2-40B4-BE49-F238E27FC236}">
                <a16:creationId xmlns:a16="http://schemas.microsoft.com/office/drawing/2014/main" id="{54A8FCE1-366B-E6EE-3D88-A2A7CAABDFD2}"/>
              </a:ext>
            </a:extLst>
          </p:cNvPr>
          <p:cNvSpPr txBox="1"/>
          <p:nvPr/>
        </p:nvSpPr>
        <p:spPr>
          <a:xfrm>
            <a:off x="7822661" y="14972782"/>
            <a:ext cx="7008020" cy="234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" name="Google Shape;174;p1">
            <a:extLst>
              <a:ext uri="{FF2B5EF4-FFF2-40B4-BE49-F238E27FC236}">
                <a16:creationId xmlns:a16="http://schemas.microsoft.com/office/drawing/2014/main" id="{2F547D69-D0D0-C594-CD7F-F9B90CF1C02A}"/>
              </a:ext>
            </a:extLst>
          </p:cNvPr>
          <p:cNvSpPr txBox="1"/>
          <p:nvPr/>
        </p:nvSpPr>
        <p:spPr>
          <a:xfrm>
            <a:off x="7838482" y="18678289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US" sz="2000" b="1" i="0" dirty="0">
                <a:effectLst/>
                <a:latin typeface="Söhne"/>
              </a:rPr>
              <a:t>QR Code of the Demonstration Video</a:t>
            </a:r>
            <a:endParaRPr lang="en-IN" sz="2000" b="1" i="0" dirty="0">
              <a:effectLst/>
              <a:latin typeface="Söhne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13F9D9-513B-6402-B2B2-453D45C93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55" y="11368975"/>
            <a:ext cx="7225554" cy="95707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6B202C-1B70-614B-A2F4-C556BB29AF86}"/>
              </a:ext>
            </a:extLst>
          </p:cNvPr>
          <p:cNvSpPr txBox="1"/>
          <p:nvPr/>
        </p:nvSpPr>
        <p:spPr>
          <a:xfrm>
            <a:off x="7912137" y="17152149"/>
            <a:ext cx="7023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5"/>
              </a:rPr>
              <a:t>https://www.irjet.net/archives/V6/i5/IRJET-V6I51108.pdf</a:t>
            </a:r>
            <a:endParaRPr lang="en-IN" dirty="0"/>
          </a:p>
          <a:p>
            <a:r>
              <a:rPr lang="en-IN" dirty="0">
                <a:hlinkClick r:id="rId6"/>
              </a:rPr>
              <a:t>https://pmc.ncbi.nlm.nih.gov/articles/PMC4243514/</a:t>
            </a:r>
            <a:endParaRPr lang="en-IN" dirty="0"/>
          </a:p>
          <a:p>
            <a:r>
              <a:rPr lang="en-IN" dirty="0">
                <a:hlinkClick r:id="rId7"/>
              </a:rPr>
              <a:t>https://doi.org/10.3390/molecules25246041</a:t>
            </a:r>
            <a:endParaRPr lang="en-IN" dirty="0"/>
          </a:p>
          <a:p>
            <a:r>
              <a:rPr lang="en-IN" dirty="0"/>
              <a:t>https://youtu.be/-hzhDPWyMcs?si=qSqPwCUL1PlTfeet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FD4AD2-2ABB-7394-D083-9CB5F9CD58C7}"/>
              </a:ext>
            </a:extLst>
          </p:cNvPr>
          <p:cNvSpPr txBox="1"/>
          <p:nvPr/>
        </p:nvSpPr>
        <p:spPr>
          <a:xfrm>
            <a:off x="350871" y="7183120"/>
            <a:ext cx="4204733" cy="110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16B4B93-7B99-0743-EA61-692599F3D4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0348" y="5890228"/>
            <a:ext cx="3596203" cy="220608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1BB712F9-EBBB-27DE-F2A7-0F468BB2ACA6}"/>
              </a:ext>
            </a:extLst>
          </p:cNvPr>
          <p:cNvSpPr txBox="1"/>
          <p:nvPr/>
        </p:nvSpPr>
        <p:spPr>
          <a:xfrm>
            <a:off x="185992" y="8838719"/>
            <a:ext cx="7328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Integrate ESP + Catalyst in a compact unit Reduce &gt;80% of CO, NOₓ, SOₓ, Foremove  low back pressure Enable future microturbine integration</a:t>
            </a:r>
          </a:p>
        </p:txBody>
      </p:sp>
      <p:sp>
        <p:nvSpPr>
          <p:cNvPr id="43" name="AutoShape 22">
            <a:extLst>
              <a:ext uri="{FF2B5EF4-FFF2-40B4-BE49-F238E27FC236}">
                <a16:creationId xmlns:a16="http://schemas.microsoft.com/office/drawing/2014/main" id="{A6F61863-995A-01C3-B30F-200570DD13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07275" y="105394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44" name="AutoShape 24">
            <a:extLst>
              <a:ext uri="{FF2B5EF4-FFF2-40B4-BE49-F238E27FC236}">
                <a16:creationId xmlns:a16="http://schemas.microsoft.com/office/drawing/2014/main" id="{F6957A24-3435-8329-7225-E2B671917A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59675" y="106918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D2A4FB2-B9B0-4D98-F6F2-11B298AC99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3803" y="9529626"/>
            <a:ext cx="4407988" cy="131990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CFB61ED-CF9D-3E6C-B131-3A561E12F52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659" t="27970" r="16833"/>
          <a:stretch>
            <a:fillRect/>
          </a:stretch>
        </p:blipFill>
        <p:spPr>
          <a:xfrm>
            <a:off x="389413" y="3821740"/>
            <a:ext cx="2909372" cy="120476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C6BB56B-1CB7-C912-9B14-027207EF8B2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220" t="11707" r="5283" b="12693"/>
          <a:stretch>
            <a:fillRect/>
          </a:stretch>
        </p:blipFill>
        <p:spPr>
          <a:xfrm>
            <a:off x="3232628" y="3836758"/>
            <a:ext cx="4326781" cy="120427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C7E2934-0B32-C57A-BE97-9C3F01FBDA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6445" y="9636837"/>
            <a:ext cx="6580806" cy="332476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91F68B5-E367-F774-CBA8-DDD8BBD8B9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22660" y="13741892"/>
            <a:ext cx="2586259" cy="195493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DF2F1FD-4BEB-8650-33C4-52B972AA3A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65062" y="7197722"/>
            <a:ext cx="3346839" cy="2232983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777FD7EC-5C58-B55A-845A-CF361069446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r="1353"/>
          <a:stretch>
            <a:fillRect/>
          </a:stretch>
        </p:blipFill>
        <p:spPr>
          <a:xfrm>
            <a:off x="11437620" y="7183120"/>
            <a:ext cx="3442902" cy="223298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E0303740-3C41-F2AE-AF1D-CDF34E0CD107}"/>
              </a:ext>
            </a:extLst>
          </p:cNvPr>
          <p:cNvSpPr txBox="1"/>
          <p:nvPr/>
        </p:nvSpPr>
        <p:spPr>
          <a:xfrm>
            <a:off x="10408920" y="8191500"/>
            <a:ext cx="102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Before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A1E44C-73F2-68D3-EB40-B4B86DD05D8E}"/>
              </a:ext>
            </a:extLst>
          </p:cNvPr>
          <p:cNvSpPr txBox="1"/>
          <p:nvPr/>
        </p:nvSpPr>
        <p:spPr>
          <a:xfrm>
            <a:off x="14215456" y="8168530"/>
            <a:ext cx="658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After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577E73-4C79-AB4E-1D33-B9686C82758A}"/>
              </a:ext>
            </a:extLst>
          </p:cNvPr>
          <p:cNvSpPr txBox="1"/>
          <p:nvPr/>
        </p:nvSpPr>
        <p:spPr>
          <a:xfrm>
            <a:off x="10436539" y="13414233"/>
            <a:ext cx="45152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vehicle exhaust purification prototype was developed using an Electrostatic Precipitator (ESP), catalytic honeycomb filter. The system successfully demonstrates the removal of CO, CH₄, VOCs, and NOx from exhaust emissions.</a:t>
            </a:r>
          </a:p>
          <a:p>
            <a:r>
              <a:rPr lang="en-US" dirty="0"/>
              <a:t>Multiple MQ gas sensors were used to monitor pollutant levels and track purification effectiveness. Addressed cold-start pollution using a preheating approach with Nichrome wire.</a:t>
            </a:r>
          </a:p>
          <a:p>
            <a:endParaRPr lang="en-US" dirty="0"/>
          </a:p>
          <a:p>
            <a:br>
              <a:rPr lang="en-US" dirty="0"/>
            </a:br>
            <a:endParaRPr lang="en-IN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A5464AC2-A6A3-5A1A-4993-F858527123C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26445" y="19223994"/>
            <a:ext cx="1873150" cy="165704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9C1CDF7-7C69-6B5C-E7A9-11C7E71E242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433005" y="19215848"/>
            <a:ext cx="1784001" cy="1784001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869A0B8A-C147-D5A5-AF18-7508994BD905}"/>
              </a:ext>
            </a:extLst>
          </p:cNvPr>
          <p:cNvSpPr txBox="1"/>
          <p:nvPr/>
        </p:nvSpPr>
        <p:spPr>
          <a:xfrm>
            <a:off x="9774300" y="19736917"/>
            <a:ext cx="1784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Demonstration Video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227F84F-1341-684B-65AD-953B2E161A8A}"/>
              </a:ext>
            </a:extLst>
          </p:cNvPr>
          <p:cNvSpPr txBox="1"/>
          <p:nvPr/>
        </p:nvSpPr>
        <p:spPr>
          <a:xfrm>
            <a:off x="13217006" y="19964400"/>
            <a:ext cx="149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Project Folder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553</TotalTime>
  <Words>423</Words>
  <Application>Microsoft Office PowerPoint</Application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Arial</vt:lpstr>
      <vt:lpstr>Georgia</vt:lpstr>
      <vt:lpstr>Comic Sans MS</vt:lpstr>
      <vt:lpstr>Söhne</vt:lpstr>
      <vt:lpstr>Calibri</vt:lpstr>
      <vt:lpstr>Playfair Display</vt:lpstr>
      <vt:lpstr>Times New Roman</vt:lpstr>
      <vt:lpstr>Calibri Light</vt:lpstr>
      <vt:lpstr>Tahoma</vt:lpstr>
      <vt:lpstr>Bookman Old Style</vt:lpstr>
      <vt:lpstr>Trebuchet MS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india</dc:creator>
  <cp:lastModifiedBy>P Vijaya Babu</cp:lastModifiedBy>
  <cp:revision>30</cp:revision>
  <cp:lastPrinted>2024-01-29T05:31:42Z</cp:lastPrinted>
  <dcterms:created xsi:type="dcterms:W3CDTF">2020-07-26T16:54:19Z</dcterms:created>
  <dcterms:modified xsi:type="dcterms:W3CDTF">2025-07-04T04:14:54Z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